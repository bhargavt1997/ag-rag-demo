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0" y="2560320"/>
            <a:ext cx="2130552" cy="54864"/>
          </a:xfrm>
          <a:prstGeom prst="round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E2E4EA"/>
                </a:solidFill>
                <a:latin typeface="Calibri"/>
              </a:defRPr>
            </a:pPr>
            <a:r>
              <a:t>RAG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18CF8"/>
                </a:solidFill>
                <a:latin typeface="Calibri"/>
              </a:defRPr>
            </a:pPr>
            <a:r>
              <a:t>Retrieval-Augmented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  <a:latin typeface="Calibri"/>
              </a:defRPr>
            </a:pPr>
            <a:r>
              <a:t>A step-by-step walkthrough of how modern AI apps</a:t>
            </a:r>
            <a:br/>
            <a:r>
              <a:t>answer questions using your private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0" y="4114800"/>
            <a:ext cx="1005840" cy="365760"/>
          </a:xfrm>
          <a:prstGeom prst="roundRect">
            <a:avLst/>
          </a:prstGeom>
          <a:solidFill>
            <a:srgbClr val="1A1E2B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818CF8"/>
                </a:solidFill>
                <a:latin typeface="Calibri"/>
              </a:defRPr>
            </a:pPr>
            <a:r>
              <a:t>OpenAI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0" y="4114800"/>
            <a:ext cx="1005840" cy="365760"/>
          </a:xfrm>
          <a:prstGeom prst="roundRect">
            <a:avLst/>
          </a:prstGeom>
          <a:solidFill>
            <a:srgbClr val="1A1E2B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4D399"/>
                </a:solidFill>
                <a:latin typeface="Calibri"/>
              </a:defRPr>
            </a:pPr>
            <a:r>
              <a:t>ChromaDB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4114800"/>
            <a:ext cx="1005840" cy="365760"/>
          </a:xfrm>
          <a:prstGeom prst="roundRect">
            <a:avLst/>
          </a:prstGeom>
          <a:solidFill>
            <a:srgbClr val="1A1E2B"/>
          </a:solidFill>
          <a:ln w="12700">
            <a:solidFill>
              <a:srgbClr val="FDC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DCB6E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4114800"/>
            <a:ext cx="1005840" cy="365760"/>
          </a:xfrm>
          <a:prstGeom prst="roundRect">
            <a:avLst/>
          </a:prstGeom>
          <a:solidFill>
            <a:srgbClr val="1A1E2B"/>
          </a:solidFill>
          <a:ln w="127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74B9FF"/>
                </a:solidFill>
                <a:latin typeface="Calibri"/>
              </a:defRPr>
            </a:pPr>
            <a:r>
              <a:t>Flask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2E4EA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Calibri"/>
              </a:defRPr>
            </a:pPr>
            <a:r>
              <a:t>Why can't we just use ChatGPT directly?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291840" cy="2286000"/>
          </a:xfrm>
          <a:prstGeom prst="roundRect">
            <a:avLst/>
          </a:prstGeom>
          <a:solidFill>
            <a:srgbClr val="1A1E2B"/>
          </a:solidFill>
          <a:ln w="12700">
            <a:solidFill>
              <a:srgbClr val="FF7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FF7675"/>
                </a:solidFill>
                <a:latin typeface="Calibri"/>
              </a:defRPr>
            </a:pPr>
            <a:r>
              <a:t>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2E4EA"/>
                </a:solidFill>
                <a:latin typeface="Calibri"/>
              </a:defRPr>
            </a:pPr>
            <a:r>
              <a:t>No Access to Private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175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ChatGPT has never read your company's HR policies,</a:t>
            </a:r>
            <a:br/>
            <a:r>
              <a:t>internal docs, or Jira tickets.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291840" cy="2286000"/>
          </a:xfrm>
          <a:prstGeom prst="roundRect">
            <a:avLst/>
          </a:prstGeom>
          <a:solidFill>
            <a:srgbClr val="1A1E2B"/>
          </a:solidFill>
          <a:ln w="12700">
            <a:solidFill>
              <a:srgbClr val="FDC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FDCB6E"/>
                </a:solidFill>
                <a:latin typeface="Calibri"/>
              </a:defRPr>
            </a:pPr>
            <a:r>
              <a:t>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560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2E4EA"/>
                </a:solidFill>
                <a:latin typeface="Calibri"/>
              </a:defRPr>
            </a:pPr>
            <a:r>
              <a:t>Training is Expensive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0175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Fine-tuning a custom AI model costs thousands of</a:t>
            </a:r>
            <a:br/>
            <a:r>
              <a:t>dollars and takes weeks.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828800"/>
            <a:ext cx="3291840" cy="2286000"/>
          </a:xfrm>
          <a:prstGeom prst="roundRect">
            <a:avLst/>
          </a:prstGeom>
          <a:solidFill>
            <a:srgbClr val="1A1E2B"/>
          </a:solidFill>
          <a:ln w="12700">
            <a:solidFill>
              <a:srgbClr val="FD79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FD79A8"/>
                </a:solidFill>
                <a:latin typeface="Calibri"/>
              </a:defRPr>
            </a:pPr>
            <a:r>
              <a:t>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560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2E4EA"/>
                </a:solidFill>
                <a:latin typeface="Calibri"/>
              </a:defRPr>
            </a:pPr>
            <a:r>
              <a:t>Hallucinations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0175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Without grounding, AI confidently makes up answers.</a:t>
            </a:r>
            <a:br/>
            <a:r>
              <a:t>This is dangerous for business use.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754880"/>
            <a:ext cx="10725912" cy="1371600"/>
          </a:xfrm>
          <a:prstGeom prst="roundRect">
            <a:avLst/>
          </a:prstGeom>
          <a:solidFill>
            <a:srgbClr val="141A2E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818CF8"/>
                </a:solidFill>
                <a:latin typeface="Calibri"/>
              </a:defRPr>
            </a:pPr>
            <a:r>
              <a:t>💡 The Solution: RAG (Retrieval-Augmented Generation)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349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4EA"/>
                </a:solidFill>
                <a:latin typeface="Calibri"/>
              </a:defRPr>
            </a:pPr>
            <a:r>
              <a:t>Instead of training the AI, we treat the AI like a student taking an Open Book Exam.</a:t>
            </a:r>
            <a:br/>
            <a:r>
              <a:t>We search a database for relevant pages, hand them to the AI, and say: "Answer using ONLY these pages."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2E4EA"/>
                </a:solidFill>
                <a:latin typeface="Calibri"/>
              </a:defRPr>
            </a:pPr>
            <a:r>
              <a:t>What is RAG?</a:t>
            </a:r>
          </a:p>
        </p:txBody>
      </p:sp>
      <p:sp>
        <p:nvSpPr>
          <p:cNvPr id="3" name="Oval 2"/>
          <p:cNvSpPr/>
          <p:nvPr/>
        </p:nvSpPr>
        <p:spPr>
          <a:xfrm>
            <a:off x="1828800" y="1645920"/>
            <a:ext cx="1097280" cy="1097280"/>
          </a:xfrm>
          <a:prstGeom prst="ellipse">
            <a:avLst/>
          </a:prstGeom>
          <a:solidFill>
            <a:srgbClr val="74B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000" b="1">
                <a:solidFill>
                  <a:srgbClr val="E2E4EA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74B9FF"/>
                </a:solidFill>
                <a:latin typeface="Calibri"/>
              </a:defRPr>
            </a:pPr>
            <a:r>
              <a:t>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280"/>
                </a:solidFill>
                <a:latin typeface="Calibri"/>
              </a:defRPr>
            </a:pPr>
            <a:r>
              <a:t>Search the vector database for</a:t>
            </a:r>
            <a:br/>
            <a:r>
              <a:t>the most relevant document chunks</a:t>
            </a:r>
          </a:p>
        </p:txBody>
      </p:sp>
      <p:sp>
        <p:nvSpPr>
          <p:cNvPr id="6" name="Oval 5"/>
          <p:cNvSpPr/>
          <p:nvPr/>
        </p:nvSpPr>
        <p:spPr>
          <a:xfrm>
            <a:off x="5486400" y="1645920"/>
            <a:ext cx="1097280" cy="1097280"/>
          </a:xfrm>
          <a:prstGeom prst="ellipse">
            <a:avLst/>
          </a:prstGeom>
          <a:solidFill>
            <a:srgbClr val="FDC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000" b="1">
                <a:solidFill>
                  <a:srgbClr val="E2E4EA"/>
                </a:solidFill>
                <a:latin typeface="Calibri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926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DCB6E"/>
                </a:solidFill>
                <a:latin typeface="Calibri"/>
              </a:defRPr>
            </a:pPr>
            <a:r>
              <a:t>Augmented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3383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280"/>
                </a:solidFill>
                <a:latin typeface="Calibri"/>
              </a:defRPr>
            </a:pPr>
            <a:r>
              <a:t>Inject those chunks into the</a:t>
            </a:r>
            <a:br/>
            <a:r>
              <a:t>AI prompt as 'Context'</a:t>
            </a:r>
          </a:p>
        </p:txBody>
      </p:sp>
      <p:sp>
        <p:nvSpPr>
          <p:cNvPr id="9" name="Oval 8"/>
          <p:cNvSpPr/>
          <p:nvPr/>
        </p:nvSpPr>
        <p:spPr>
          <a:xfrm>
            <a:off x="9144000" y="1645920"/>
            <a:ext cx="1097280" cy="109728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000" b="1">
                <a:solidFill>
                  <a:srgbClr val="E2E4EA"/>
                </a:solidFill>
                <a:latin typeface="Calibri"/>
              </a:defRPr>
            </a:pPr>
            <a:r>
              <a:t>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26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4D399"/>
                </a:solidFill>
                <a:latin typeface="Calibri"/>
              </a:defRPr>
            </a:pPr>
            <a:r>
              <a:t>Generation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3383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280"/>
                </a:solidFill>
                <a:latin typeface="Calibri"/>
              </a:defRPr>
            </a:pPr>
            <a:r>
              <a:t>The LLM reads the context and</a:t>
            </a:r>
            <a:br/>
            <a:r>
              <a:t>generates a grounded answer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192024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6B728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192024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6B728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754880"/>
            <a:ext cx="10725912" cy="1371600"/>
          </a:xfrm>
          <a:prstGeom prst="roundRect">
            <a:avLst/>
          </a:prstGeom>
          <a:solidFill>
            <a:srgbClr val="1A1E2B"/>
          </a:solidFill>
          <a:ln w="12700">
            <a:solidFill>
              <a:srgbClr val="2A2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892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E4EA"/>
                </a:solidFill>
                <a:latin typeface="Calibri"/>
              </a:defRPr>
            </a:pPr>
            <a:r>
              <a:t>In simple terms: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257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"Search 1 lakh chunks. Retrieve 3. Generate with 3."</a:t>
            </a:r>
            <a:br/>
            <a:r>
              <a:t>No matter how much data you have, the LLM only ever sees a tiny, highly-relevant handful of text.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2E4EA"/>
                </a:solidFill>
                <a:latin typeface="Calibri"/>
              </a:defRPr>
            </a:pPr>
            <a:r>
              <a:t>Pipeline 1: Ingestion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Preparing documents for search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029200" cy="1005840"/>
          </a:xfrm>
          <a:prstGeom prst="roundRect">
            <a:avLst/>
          </a:prstGeom>
          <a:solidFill>
            <a:srgbClr val="1A1E2B"/>
          </a:solidFill>
          <a:ln w="12700">
            <a:solidFill>
              <a:srgbClr val="2A2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" y="1737360"/>
            <a:ext cx="457200" cy="457200"/>
          </a:xfrm>
          <a:prstGeom prst="ellipse">
            <a:avLst/>
          </a:prstGeom>
          <a:solidFill>
            <a:srgbClr val="FDC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E2E4E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6916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E4EA"/>
                </a:solidFill>
                <a:latin typeface="Calibri"/>
              </a:defRPr>
            </a:pPr>
            <a:r>
              <a:t>Chunking  (Python)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0116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Raw text is split into smaller pieces (sentences / paragraphs).</a:t>
            </a:r>
            <a:br/>
            <a:r>
              <a:t>Output: A list of short text strings.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43200"/>
            <a:ext cx="5029200" cy="1005840"/>
          </a:xfrm>
          <a:prstGeom prst="roundRect">
            <a:avLst/>
          </a:prstGeom>
          <a:solidFill>
            <a:srgbClr val="1A1E2B"/>
          </a:solidFill>
          <a:ln w="12700">
            <a:solidFill>
              <a:srgbClr val="2A2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2926080"/>
            <a:ext cx="457200" cy="457200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E2E4E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8803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E4EA"/>
                </a:solidFill>
                <a:latin typeface="Calibri"/>
              </a:defRPr>
            </a:pPr>
            <a:r>
              <a:t>Embedding  (OpenAI API)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2004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Each chunk is sent to OpenAI's embedding model and converted</a:t>
            </a:r>
            <a:br/>
            <a:r>
              <a:t>into a mathematical vector of 1,536 floating-point numbers.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029200" cy="1005840"/>
          </a:xfrm>
          <a:prstGeom prst="roundRect">
            <a:avLst/>
          </a:prstGeom>
          <a:solidFill>
            <a:srgbClr val="1A1E2B"/>
          </a:solidFill>
          <a:ln w="12700">
            <a:solidFill>
              <a:srgbClr val="2A2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0120" y="4114800"/>
            <a:ext cx="457200" cy="4572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E2E4E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0690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E4EA"/>
                </a:solidFill>
                <a:latin typeface="Calibri"/>
              </a:defRPr>
            </a:pPr>
            <a:r>
              <a:t>Storing  (ChromaDB)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38912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The raw text + its math vector are saved side-by-side</a:t>
            </a:r>
            <a:br/>
            <a:r>
              <a:t>in the ChromaDB vector database.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371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18CF8"/>
                </a:solidFill>
                <a:latin typeface="Calibri"/>
              </a:defRPr>
            </a:pPr>
            <a:r>
              <a:t>app.py — store_documents()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691640"/>
            <a:ext cx="5029200" cy="3474720"/>
          </a:xfrm>
          <a:prstGeom prst="roundRect">
            <a:avLst/>
          </a:prstGeom>
          <a:solidFill>
            <a:srgbClr val="0A0C12"/>
          </a:solidFill>
          <a:ln w="12700">
            <a:solidFill>
              <a:srgbClr val="2A2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bIns="127000"/>
          <a:lstStyle/>
          <a:p>
            <a:pPr algn="ctr">
              <a:spcAft>
                <a:spcPts val="200"/>
              </a:spcAft>
              <a:defRPr sz="1200">
                <a:solidFill>
                  <a:srgbClr val="74B9FF"/>
                </a:solidFill>
                <a:latin typeface="Consolas"/>
              </a:defRPr>
            </a:pPr>
            <a:r>
              <a:t>def store_documents(documents):</a:t>
            </a:r>
          </a:p>
          <a:p>
            <a:pPr>
              <a:spcAft>
                <a:spcPts val="200"/>
              </a:spcAft>
              <a:defRPr sz="1200">
                <a:solidFill>
                  <a:srgbClr val="E2E4EA"/>
                </a:solidFill>
                <a:latin typeface="Consolas"/>
              </a:defRPr>
            </a:pPr>
            <a:r>
              <a:t>    for i, doc in enumerate(documents):</a:t>
            </a:r>
          </a:p>
          <a:p>
            <a:pPr>
              <a:spcAft>
                <a:spcPts val="200"/>
              </a:spcAft>
              <a:defRPr sz="1200">
                <a:solidFill>
                  <a:srgbClr val="E2E4EA"/>
                </a:solidFill>
                <a:latin typeface="Consolas"/>
              </a:defRPr>
            </a:pPr>
            <a:r>
              <a:t>        doc_id = f"doc_{i}"</a:t>
            </a:r>
          </a:p>
          <a:p>
            <a:pPr>
              <a:spcAft>
                <a:spcPts val="200"/>
              </a:spcAft>
              <a:defRPr sz="1200">
                <a:solidFill>
                  <a:srgbClr val="6B728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4D399"/>
                </a:solidFill>
                <a:latin typeface="Consolas"/>
              </a:defRPr>
            </a:pPr>
            <a:r>
              <a:t>        # Step 2: Embed — turn text into math</a:t>
            </a:r>
          </a:p>
          <a:p>
            <a:pPr>
              <a:spcAft>
                <a:spcPts val="200"/>
              </a:spcAft>
              <a:defRPr sz="1200">
                <a:solidFill>
                  <a:srgbClr val="FDCB6E"/>
                </a:solidFill>
                <a:latin typeface="Consolas"/>
              </a:defRPr>
            </a:pPr>
            <a:r>
              <a:t>        embedding = get_embedding(doc)</a:t>
            </a:r>
          </a:p>
          <a:p>
            <a:pPr>
              <a:spcAft>
                <a:spcPts val="200"/>
              </a:spcAft>
              <a:defRPr sz="1200">
                <a:solidFill>
                  <a:srgbClr val="6B728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4D399"/>
                </a:solidFill>
                <a:latin typeface="Consolas"/>
              </a:defRPr>
            </a:pPr>
            <a:r>
              <a:t>        # Step 3: Store in ChromaDB</a:t>
            </a:r>
          </a:p>
          <a:p>
            <a:pPr>
              <a:spcAft>
                <a:spcPts val="200"/>
              </a:spcAft>
              <a:defRPr sz="1200">
                <a:solidFill>
                  <a:srgbClr val="E2E4EA"/>
                </a:solidFill>
                <a:latin typeface="Consolas"/>
              </a:defRPr>
            </a:pPr>
            <a:r>
              <a:t>        collection.add(</a:t>
            </a:r>
          </a:p>
          <a:p>
            <a:pPr>
              <a:spcAft>
                <a:spcPts val="200"/>
              </a:spcAft>
              <a:defRPr sz="1200">
                <a:solidFill>
                  <a:srgbClr val="E2E4EA"/>
                </a:solidFill>
                <a:latin typeface="Consolas"/>
              </a:defRPr>
            </a:pPr>
            <a:r>
              <a:t>            documents=[doc],</a:t>
            </a:r>
          </a:p>
          <a:p>
            <a:pPr>
              <a:spcAft>
                <a:spcPts val="200"/>
              </a:spcAft>
              <a:defRPr sz="1200">
                <a:solidFill>
                  <a:srgbClr val="FDCB6E"/>
                </a:solidFill>
                <a:latin typeface="Consolas"/>
              </a:defRPr>
            </a:pPr>
            <a:r>
              <a:t>            embeddings=[embedding],</a:t>
            </a:r>
          </a:p>
          <a:p>
            <a:pPr>
              <a:spcAft>
                <a:spcPts val="200"/>
              </a:spcAft>
              <a:defRPr sz="1200">
                <a:solidFill>
                  <a:srgbClr val="E2E4EA"/>
                </a:solidFill>
                <a:latin typeface="Consolas"/>
              </a:defRPr>
            </a:pPr>
            <a:r>
              <a:t>            ids=[doc_id]</a:t>
            </a:r>
          </a:p>
          <a:p>
            <a:pPr>
              <a:spcAft>
                <a:spcPts val="200"/>
              </a:spcAft>
              <a:defRPr sz="1200">
                <a:solidFill>
                  <a:srgbClr val="E2E4EA"/>
                </a:solidFill>
                <a:latin typeface="Consolas"/>
              </a:defRPr>
            </a:pPr>
            <a:r>
              <a:t>        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303520"/>
            <a:ext cx="10725912" cy="731520"/>
          </a:xfrm>
          <a:prstGeom prst="roundRect">
            <a:avLst/>
          </a:prstGeom>
          <a:solidFill>
            <a:srgbClr val="1A1E2B"/>
          </a:solidFill>
          <a:ln w="12700">
            <a:solidFill>
              <a:srgbClr val="2A2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3492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2E4EA"/>
                </a:solidFill>
                <a:latin typeface="Calibri"/>
              </a:defRPr>
            </a:pPr>
            <a:r>
              <a:t>📄 Raw Text  →  ✂️ Chunks  →  🧠 Vectors [0.02, -0.15, 0.08, ...]  →  💾 ChromaDB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2E4EA"/>
                </a:solidFill>
                <a:latin typeface="Calibri"/>
              </a:defRPr>
            </a:pPr>
            <a:r>
              <a:t>Pipeline 2: Query (RAG)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Answering a user's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029200" cy="868680"/>
          </a:xfrm>
          <a:prstGeom prst="roundRect">
            <a:avLst/>
          </a:prstGeom>
          <a:solidFill>
            <a:srgbClr val="1A1E2B"/>
          </a:solidFill>
          <a:ln w="12700">
            <a:solidFill>
              <a:srgbClr val="2A2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" y="1737360"/>
            <a:ext cx="457200" cy="457200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E2E4E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6916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E4EA"/>
                </a:solidFill>
                <a:latin typeface="Calibri"/>
              </a:defRPr>
            </a:pPr>
            <a:r>
              <a:t>Embed Query  (OpenAI)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01168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Convert the user's question into a math vector.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06040"/>
            <a:ext cx="5029200" cy="868680"/>
          </a:xfrm>
          <a:prstGeom prst="roundRect">
            <a:avLst/>
          </a:prstGeom>
          <a:solidFill>
            <a:srgbClr val="1A1E2B"/>
          </a:solidFill>
          <a:ln w="12700">
            <a:solidFill>
              <a:srgbClr val="2A2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2788920"/>
            <a:ext cx="457200" cy="457200"/>
          </a:xfrm>
          <a:prstGeom prst="ellipse">
            <a:avLst/>
          </a:prstGeom>
          <a:solidFill>
            <a:srgbClr val="74B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E2E4E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743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E4EA"/>
                </a:solidFill>
                <a:latin typeface="Calibri"/>
              </a:defRPr>
            </a:pPr>
            <a:r>
              <a:t>Retrieve  (ChromaDB)  — the 'R'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0632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Search all stored vectors. Return Top 3 closest matches.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57600"/>
            <a:ext cx="5029200" cy="868680"/>
          </a:xfrm>
          <a:prstGeom prst="roundRect">
            <a:avLst/>
          </a:prstGeom>
          <a:solidFill>
            <a:srgbClr val="1A1E2B"/>
          </a:solidFill>
          <a:ln w="12700">
            <a:solidFill>
              <a:srgbClr val="2A2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0120" y="3840480"/>
            <a:ext cx="457200" cy="457200"/>
          </a:xfrm>
          <a:prstGeom prst="ellipse">
            <a:avLst/>
          </a:prstGeom>
          <a:solidFill>
            <a:srgbClr val="FDC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E2E4E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7947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E4EA"/>
                </a:solidFill>
                <a:latin typeface="Calibri"/>
              </a:defRPr>
            </a:pPr>
            <a:r>
              <a:t>Augment  — the 'A'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1148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Glue those 3 chunks into the prompt as 'Context'.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709160"/>
            <a:ext cx="5029200" cy="868680"/>
          </a:xfrm>
          <a:prstGeom prst="roundRect">
            <a:avLst/>
          </a:prstGeom>
          <a:solidFill>
            <a:srgbClr val="1A1E2B"/>
          </a:solidFill>
          <a:ln w="12700">
            <a:solidFill>
              <a:srgbClr val="2A2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0120" y="4892040"/>
            <a:ext cx="457200" cy="4572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E2E4E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84632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E4EA"/>
                </a:solidFill>
                <a:latin typeface="Calibri"/>
              </a:defRPr>
            </a:pPr>
            <a:r>
              <a:t>Generate  (OpenAI Chat)  — the 'G'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1663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LLM reads context + question → writes final answer.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371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18CF8"/>
                </a:solidFill>
                <a:latin typeface="Calibri"/>
              </a:defRPr>
            </a:pPr>
            <a:r>
              <a:t>app.py — search + generate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1691640"/>
            <a:ext cx="5029200" cy="4114800"/>
          </a:xfrm>
          <a:prstGeom prst="roundRect">
            <a:avLst/>
          </a:prstGeom>
          <a:solidFill>
            <a:srgbClr val="0A0C12"/>
          </a:solidFill>
          <a:ln w="12700">
            <a:solidFill>
              <a:srgbClr val="2A2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bIns="127000"/>
          <a:lstStyle/>
          <a:p>
            <a:pPr algn="ctr">
              <a:spcAft>
                <a:spcPts val="200"/>
              </a:spcAft>
              <a:defRPr sz="1200">
                <a:solidFill>
                  <a:srgbClr val="34D399"/>
                </a:solidFill>
                <a:latin typeface="Consolas"/>
              </a:defRPr>
            </a:pPr>
            <a:r>
              <a:t># Step 1: Embed the question</a:t>
            </a:r>
          </a:p>
          <a:p>
            <a:pPr>
              <a:spcAft>
                <a:spcPts val="200"/>
              </a:spcAft>
              <a:defRPr sz="1200">
                <a:solidFill>
                  <a:srgbClr val="FDCB6E"/>
                </a:solidFill>
                <a:latin typeface="Consolas"/>
              </a:defRPr>
            </a:pPr>
            <a:r>
              <a:t>query_embedding = get_embedding(query)</a:t>
            </a:r>
          </a:p>
          <a:p>
            <a:pPr>
              <a:spcAft>
                <a:spcPts val="200"/>
              </a:spcAft>
              <a:defRPr sz="1200">
                <a:solidFill>
                  <a:srgbClr val="6B728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4D399"/>
                </a:solidFill>
                <a:latin typeface="Consolas"/>
              </a:defRPr>
            </a:pPr>
            <a:r>
              <a:t># Step 2: Search ChromaDB (Retrieve)</a:t>
            </a:r>
          </a:p>
          <a:p>
            <a:pPr>
              <a:spcAft>
                <a:spcPts val="200"/>
              </a:spcAft>
              <a:defRPr sz="1200">
                <a:solidFill>
                  <a:srgbClr val="E2E4EA"/>
                </a:solidFill>
                <a:latin typeface="Consolas"/>
              </a:defRPr>
            </a:pPr>
            <a:r>
              <a:t>results = collection.query(</a:t>
            </a:r>
          </a:p>
          <a:p>
            <a:pPr>
              <a:spcAft>
                <a:spcPts val="200"/>
              </a:spcAft>
              <a:defRPr sz="1200">
                <a:solidFill>
                  <a:srgbClr val="E2E4EA"/>
                </a:solidFill>
                <a:latin typeface="Consolas"/>
              </a:defRPr>
            </a:pPr>
            <a:r>
              <a:t>    query_embeddings=[query_embedding],</a:t>
            </a:r>
          </a:p>
          <a:p>
            <a:pPr>
              <a:spcAft>
                <a:spcPts val="200"/>
              </a:spcAft>
              <a:defRPr sz="1200">
                <a:solidFill>
                  <a:srgbClr val="FDCB6E"/>
                </a:solidFill>
                <a:latin typeface="Consolas"/>
              </a:defRPr>
            </a:pPr>
            <a:r>
              <a:t>    n_results=3  # &lt;-- Only Top 3!</a:t>
            </a:r>
          </a:p>
          <a:p>
            <a:pPr>
              <a:spcAft>
                <a:spcPts val="200"/>
              </a:spcAft>
              <a:defRPr sz="1200">
                <a:solidFill>
                  <a:srgbClr val="E2E4EA"/>
                </a:solidFill>
                <a:latin typeface="Consolas"/>
              </a:defRPr>
            </a:pPr>
            <a:r>
              <a:t>)</a:t>
            </a:r>
          </a:p>
          <a:p>
            <a:pPr>
              <a:spcAft>
                <a:spcPts val="200"/>
              </a:spcAft>
              <a:defRPr sz="1200">
                <a:solidFill>
                  <a:srgbClr val="6B728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4D399"/>
                </a:solidFill>
                <a:latin typeface="Consolas"/>
              </a:defRPr>
            </a:pPr>
            <a:r>
              <a:t># Step 3: Augment the prompt</a:t>
            </a:r>
          </a:p>
          <a:p>
            <a:pPr>
              <a:spcAft>
                <a:spcPts val="200"/>
              </a:spcAft>
              <a:defRPr sz="1200">
                <a:solidFill>
                  <a:srgbClr val="E2E4EA"/>
                </a:solidFill>
                <a:latin typeface="Consolas"/>
              </a:defRPr>
            </a:pPr>
            <a:r>
              <a:t>context = "\n".join(retrieved_docs)</a:t>
            </a:r>
          </a:p>
          <a:p>
            <a:pPr>
              <a:spcAft>
                <a:spcPts val="200"/>
              </a:spcAft>
              <a:defRPr sz="1200">
                <a:solidFill>
                  <a:srgbClr val="FDCB6E"/>
                </a:solidFill>
                <a:latin typeface="Consolas"/>
              </a:defRPr>
            </a:pPr>
            <a:r>
              <a:t>prompt = f"Context:\n{context}\n\nQ: {query}"</a:t>
            </a:r>
          </a:p>
          <a:p>
            <a:pPr>
              <a:spcAft>
                <a:spcPts val="200"/>
              </a:spcAft>
              <a:defRPr sz="1200">
                <a:solidFill>
                  <a:srgbClr val="6B728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4D399"/>
                </a:solidFill>
                <a:latin typeface="Consolas"/>
              </a:defRPr>
            </a:pPr>
            <a:r>
              <a:t># Step 4: Generate answer (LLM)</a:t>
            </a:r>
          </a:p>
          <a:p>
            <a:pPr>
              <a:spcAft>
                <a:spcPts val="200"/>
              </a:spcAft>
              <a:defRPr sz="1200">
                <a:solidFill>
                  <a:srgbClr val="E2E4EA"/>
                </a:solidFill>
                <a:latin typeface="Consolas"/>
              </a:defRPr>
            </a:pPr>
            <a:r>
              <a:t>response = openai.chat.completions.create(</a:t>
            </a:r>
          </a:p>
          <a:p>
            <a:pPr>
              <a:spcAft>
                <a:spcPts val="200"/>
              </a:spcAft>
              <a:defRPr sz="1200">
                <a:solidFill>
                  <a:srgbClr val="E2E4EA"/>
                </a:solidFill>
                <a:latin typeface="Consolas"/>
              </a:defRPr>
            </a:pPr>
            <a:r>
              <a:t>    model="gpt-4o-mini",</a:t>
            </a:r>
          </a:p>
          <a:p>
            <a:pPr>
              <a:spcAft>
                <a:spcPts val="200"/>
              </a:spcAft>
              <a:defRPr sz="1200">
                <a:solidFill>
                  <a:srgbClr val="E2E4EA"/>
                </a:solidFill>
                <a:latin typeface="Consolas"/>
              </a:defRPr>
            </a:pPr>
            <a:r>
              <a:t>    messages=[{"role": "user",</a:t>
            </a:r>
          </a:p>
          <a:p>
            <a:pPr>
              <a:spcAft>
                <a:spcPts val="200"/>
              </a:spcAft>
              <a:defRPr sz="1200">
                <a:solidFill>
                  <a:srgbClr val="E2E4EA"/>
                </a:solidFill>
                <a:latin typeface="Consolas"/>
              </a:defRPr>
            </a:pPr>
            <a:r>
              <a:t>               "content": prompt}]</a:t>
            </a:r>
          </a:p>
          <a:p>
            <a:pPr>
              <a:spcAft>
                <a:spcPts val="200"/>
              </a:spcAft>
              <a:defRPr sz="1200">
                <a:solidFill>
                  <a:srgbClr val="E2E4EA"/>
                </a:solidFill>
                <a:latin typeface="Consolas"/>
              </a:defRPr>
            </a:pPr>
            <a:r>
              <a:t>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2E4EA"/>
                </a:solidFill>
                <a:latin typeface="Calibri"/>
              </a:defRPr>
            </a:pPr>
            <a:r>
              <a:t>How Do Embeddings Work?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Turning human language into math that a computer can 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818CF8"/>
                </a:solidFill>
                <a:latin typeface="Calibri"/>
              </a:defRPr>
            </a:pPr>
            <a:r>
              <a:t>What is an Embedding?</a:t>
            </a:r>
          </a:p>
          <a:p>
            <a:pPr>
              <a:spcAft>
                <a:spcPts val="600"/>
              </a:spcAft>
              <a:defRPr sz="1400" b="0">
                <a:solidFill>
                  <a:srgbClr val="E2E4EA"/>
                </a:solidFill>
                <a:latin typeface="Calibri"/>
              </a:defRPr>
            </a:pPr>
            <a:r>
              <a:t>A dense array of 1,536 floating-point numbers</a:t>
            </a:r>
          </a:p>
          <a:p>
            <a:pPr>
              <a:spcAft>
                <a:spcPts val="60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Generated by OpenAI's text-embedding-3-small model</a:t>
            </a:r>
          </a:p>
          <a:p>
            <a:pPr>
              <a:spcAft>
                <a:spcPts val="600"/>
              </a:spcAft>
              <a:defRPr sz="800" b="0">
                <a:solidFill>
                  <a:srgbClr val="6B728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818CF8"/>
                </a:solidFill>
                <a:latin typeface="Calibri"/>
              </a:defRPr>
            </a:pPr>
            <a:r>
              <a:t>Why does it work?</a:t>
            </a:r>
          </a:p>
          <a:p>
            <a:pPr>
              <a:spcAft>
                <a:spcPts val="600"/>
              </a:spcAft>
              <a:defRPr sz="1400" b="0">
                <a:solidFill>
                  <a:srgbClr val="E2E4EA"/>
                </a:solidFill>
                <a:latin typeface="Calibri"/>
              </a:defRPr>
            </a:pPr>
            <a:r>
              <a:t>Sentences with similar meanings produce</a:t>
            </a:r>
          </a:p>
          <a:p>
            <a:pPr>
              <a:spcAft>
                <a:spcPts val="600"/>
              </a:spcAft>
              <a:defRPr sz="1400" b="0">
                <a:solidFill>
                  <a:srgbClr val="E2E4EA"/>
                </a:solidFill>
                <a:latin typeface="Calibri"/>
              </a:defRPr>
            </a:pPr>
            <a:r>
              <a:t>similar vectors (close together in 1536-D space)</a:t>
            </a:r>
          </a:p>
          <a:p>
            <a:pPr>
              <a:spcAft>
                <a:spcPts val="600"/>
              </a:spcAft>
              <a:defRPr sz="800" b="0">
                <a:solidFill>
                  <a:srgbClr val="6B728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818CF8"/>
                </a:solidFill>
                <a:latin typeface="Calibri"/>
              </a:defRPr>
            </a:pPr>
            <a:r>
              <a:t>Example:</a:t>
            </a:r>
          </a:p>
          <a:p>
            <a:pPr>
              <a:spcAft>
                <a:spcPts val="600"/>
              </a:spcAft>
              <a:defRPr sz="1400" b="0">
                <a:solidFill>
                  <a:srgbClr val="34D399"/>
                </a:solidFill>
                <a:latin typeface="Calibri"/>
              </a:defRPr>
            </a:pPr>
            <a:r>
              <a:t>"Employees get 20 paid leaves"</a:t>
            </a:r>
          </a:p>
          <a:p>
            <a:pPr>
              <a:spcAft>
                <a:spcPts val="60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  → [0.021, -0.153, 0.087, 0.042, ...]</a:t>
            </a:r>
          </a:p>
          <a:p>
            <a:pPr>
              <a:spcAft>
                <a:spcPts val="600"/>
              </a:spcAft>
              <a:defRPr sz="1400" b="0">
                <a:solidFill>
                  <a:srgbClr val="34D399"/>
                </a:solidFill>
                <a:latin typeface="Calibri"/>
              </a:defRPr>
            </a:pPr>
            <a:r>
              <a:t>"How many holidays do staff receive?"</a:t>
            </a:r>
          </a:p>
          <a:p>
            <a:pPr>
              <a:spcAft>
                <a:spcPts val="60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  → [0.019, -0.148, 0.091, 0.039, ...]</a:t>
            </a:r>
          </a:p>
          <a:p>
            <a:pPr>
              <a:spcAft>
                <a:spcPts val="600"/>
              </a:spcAft>
              <a:defRPr sz="1300" b="1">
                <a:solidFill>
                  <a:srgbClr val="FDCB6E"/>
                </a:solidFill>
                <a:latin typeface="Calibri"/>
              </a:defRPr>
            </a:pPr>
            <a:r>
              <a:t>Notice how similar the numbers are! ☝️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18CF8"/>
                </a:solidFill>
                <a:latin typeface="Calibri"/>
              </a:defRPr>
            </a:pPr>
            <a:r>
              <a:t>app.py — get_embedding()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029200" cy="2560320"/>
          </a:xfrm>
          <a:prstGeom prst="roundRect">
            <a:avLst/>
          </a:prstGeom>
          <a:solidFill>
            <a:srgbClr val="0A0C12"/>
          </a:solidFill>
          <a:ln w="12700">
            <a:solidFill>
              <a:srgbClr val="2A2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bIns="127000"/>
          <a:lstStyle/>
          <a:p>
            <a:pPr algn="ctr">
              <a:spcAft>
                <a:spcPts val="200"/>
              </a:spcAft>
              <a:defRPr sz="1200">
                <a:solidFill>
                  <a:srgbClr val="74B9FF"/>
                </a:solidFill>
                <a:latin typeface="Consolas"/>
              </a:defRPr>
            </a:pPr>
            <a:r>
              <a:t>def get_embedding(text):</a:t>
            </a:r>
          </a:p>
          <a:p>
            <a:pPr>
              <a:spcAft>
                <a:spcPts val="200"/>
              </a:spcAft>
              <a:defRPr sz="1200">
                <a:solidFill>
                  <a:srgbClr val="E2E4EA"/>
                </a:solidFill>
                <a:latin typeface="Consolas"/>
              </a:defRPr>
            </a:pPr>
            <a:r>
              <a:t>    response = client.embeddings.create(</a:t>
            </a:r>
          </a:p>
          <a:p>
            <a:pPr>
              <a:spcAft>
                <a:spcPts val="200"/>
              </a:spcAft>
              <a:defRPr sz="1200">
                <a:solidFill>
                  <a:srgbClr val="FDCB6E"/>
                </a:solidFill>
                <a:latin typeface="Consolas"/>
              </a:defRPr>
            </a:pPr>
            <a:r>
              <a:t>        model="text-embedding-3-small",</a:t>
            </a:r>
          </a:p>
          <a:p>
            <a:pPr>
              <a:spcAft>
                <a:spcPts val="200"/>
              </a:spcAft>
              <a:defRPr sz="1200">
                <a:solidFill>
                  <a:srgbClr val="E2E4EA"/>
                </a:solidFill>
                <a:latin typeface="Consolas"/>
              </a:defRPr>
            </a:pPr>
            <a:r>
              <a:t>        input=text</a:t>
            </a:r>
          </a:p>
          <a:p>
            <a:pPr>
              <a:spcAft>
                <a:spcPts val="200"/>
              </a:spcAft>
              <a:defRPr sz="1200">
                <a:solidFill>
                  <a:srgbClr val="E2E4EA"/>
                </a:solidFill>
                <a:latin typeface="Consolas"/>
              </a:defRPr>
            </a:pPr>
            <a:r>
              <a:t>    )</a:t>
            </a:r>
          </a:p>
          <a:p>
            <a:pPr>
              <a:spcAft>
                <a:spcPts val="200"/>
              </a:spcAft>
              <a:defRPr sz="1200">
                <a:solidFill>
                  <a:srgbClr val="6B728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E2E4EA"/>
                </a:solidFill>
                <a:latin typeface="Consolas"/>
              </a:defRPr>
            </a:pPr>
            <a:r>
              <a:t>    embedding = response.data[0].embedding</a:t>
            </a:r>
          </a:p>
          <a:p>
            <a:pPr>
              <a:spcAft>
                <a:spcPts val="200"/>
              </a:spcAft>
              <a:defRPr sz="1200">
                <a:solidFill>
                  <a:srgbClr val="34D399"/>
                </a:solidFill>
                <a:latin typeface="Consolas"/>
              </a:defRPr>
            </a:pPr>
            <a:r>
              <a:t>    # Returns: [0.021, -0.153, 0.087, ...]</a:t>
            </a:r>
          </a:p>
          <a:p>
            <a:pPr>
              <a:spcAft>
                <a:spcPts val="200"/>
              </a:spcAft>
              <a:defRPr sz="1200">
                <a:solidFill>
                  <a:srgbClr val="34D399"/>
                </a:solidFill>
                <a:latin typeface="Consolas"/>
              </a:defRPr>
            </a:pPr>
            <a:r>
              <a:t>    # Length: 1,536 floats</a:t>
            </a:r>
          </a:p>
          <a:p>
            <a:pPr>
              <a:spcAft>
                <a:spcPts val="200"/>
              </a:spcAft>
              <a:defRPr sz="1200">
                <a:solidFill>
                  <a:srgbClr val="E2E4EA"/>
                </a:solidFill>
                <a:latin typeface="Consolas"/>
              </a:defRPr>
            </a:pPr>
            <a:r>
              <a:t>    return embedding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5720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18CF8"/>
                </a:solidFill>
                <a:latin typeface="Calibri"/>
              </a:defRPr>
            </a:pPr>
            <a:r>
              <a:t>ChromaDB uses Cosine Similarity to compare vectors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4892040"/>
            <a:ext cx="5029200" cy="1097280"/>
          </a:xfrm>
          <a:prstGeom prst="roundRect">
            <a:avLst/>
          </a:prstGeom>
          <a:solidFill>
            <a:srgbClr val="1A1E2B"/>
          </a:solidFill>
          <a:ln w="12700">
            <a:solidFill>
              <a:srgbClr val="2A2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49834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Score 0.98  →  Almost identical meaning ✅</a:t>
            </a:r>
            <a:br/>
            <a:r>
              <a:t>Score 0.50  →  Somewhat related</a:t>
            </a:r>
            <a:br/>
            <a:r>
              <a:t>Score 0.05  →  Completely unrelated 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2E4EA"/>
                </a:solidFill>
                <a:latin typeface="Calibri"/>
              </a:defRPr>
            </a:pPr>
            <a:r>
              <a:t>Who Does What?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Breaking down the responsibilities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651760" cy="4572000"/>
          </a:xfrm>
          <a:prstGeom prst="roundRect">
            <a:avLst/>
          </a:prstGeom>
          <a:solidFill>
            <a:srgbClr val="1A1E2B"/>
          </a:solidFill>
          <a:ln w="12700">
            <a:solidFill>
              <a:srgbClr val="FDC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FDCB6E"/>
                </a:solidFill>
                <a:latin typeface="Calibri"/>
              </a:defRPr>
            </a:pPr>
            <a:r>
              <a:t>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2E4EA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DCB6E"/>
                </a:solidFill>
                <a:latin typeface="Calibri"/>
              </a:defRPr>
            </a:pPr>
            <a:r>
              <a:t>The Chopper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1752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Splits raw text into</a:t>
            </a:r>
            <a:br/>
            <a:r>
              <a:t>smaller chunks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840480"/>
            <a:ext cx="2377440" cy="2011680"/>
          </a:xfrm>
          <a:prstGeom prst="roundRect">
            <a:avLst/>
          </a:prstGeom>
          <a:solidFill>
            <a:srgbClr val="0A0C12"/>
          </a:solidFill>
          <a:ln w="12700">
            <a:solidFill>
              <a:srgbClr val="2A2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76200"/>
          <a:lstStyle/>
          <a:p>
            <a:pPr algn="ctr">
              <a:defRPr sz="1000">
                <a:solidFill>
                  <a:srgbClr val="6B7280"/>
                </a:solidFill>
                <a:latin typeface="Consolas"/>
              </a:defRPr>
            </a:pPr>
            <a:r>
              <a:t>chunks = text.split("\n")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554480"/>
            <a:ext cx="2651760" cy="4572000"/>
          </a:xfrm>
          <a:prstGeom prst="roundRect">
            <a:avLst/>
          </a:prstGeom>
          <a:solidFill>
            <a:srgbClr val="1A1E2B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818CF8"/>
                </a:solidFill>
                <a:latin typeface="Calibri"/>
              </a:defRPr>
            </a:pPr>
            <a:r>
              <a:t>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103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2E4EA"/>
                </a:solidFill>
                <a:latin typeface="Calibri"/>
              </a:defRPr>
            </a:pPr>
            <a:r>
              <a:t>OpenAI</a:t>
            </a:r>
            <a:br/>
            <a:r>
              <a:t>Embeddings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818CF8"/>
                </a:solidFill>
                <a:latin typeface="Calibri"/>
              </a:defRPr>
            </a:pPr>
            <a:r>
              <a:t>The Translator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301752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Converts English text</a:t>
            </a:r>
            <a:br/>
            <a:r>
              <a:t>into math vectors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3840480"/>
            <a:ext cx="2377440" cy="2011680"/>
          </a:xfrm>
          <a:prstGeom prst="roundRect">
            <a:avLst/>
          </a:prstGeom>
          <a:solidFill>
            <a:srgbClr val="0A0C12"/>
          </a:solidFill>
          <a:ln w="12700">
            <a:solidFill>
              <a:srgbClr val="2A2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76200"/>
          <a:lstStyle/>
          <a:p>
            <a:pPr algn="ctr">
              <a:defRPr sz="1000">
                <a:solidFill>
                  <a:srgbClr val="6B7280"/>
                </a:solidFill>
                <a:latin typeface="Consolas"/>
              </a:defRPr>
            </a:pPr>
            <a:r>
              <a:t>client.embeddings.create(</a:t>
            </a:r>
          </a:p>
          <a:p>
            <a:pPr>
              <a:defRPr sz="1000">
                <a:solidFill>
                  <a:srgbClr val="6B7280"/>
                </a:solidFill>
                <a:latin typeface="Consolas"/>
              </a:defRPr>
            </a:pPr>
            <a:r>
              <a:t>  model="text-embedding-3-small",</a:t>
            </a:r>
          </a:p>
          <a:p>
            <a:pPr>
              <a:defRPr sz="1000">
                <a:solidFill>
                  <a:srgbClr val="6B7280"/>
                </a:solidFill>
                <a:latin typeface="Consolas"/>
              </a:defRPr>
            </a:pPr>
            <a:r>
              <a:t>  input=text</a:t>
            </a:r>
          </a:p>
          <a:p>
            <a:pPr>
              <a:defRPr sz="1000">
                <a:solidFill>
                  <a:srgbClr val="6B7280"/>
                </a:solidFill>
                <a:latin typeface="Consolas"/>
              </a:defRPr>
            </a:pPr>
            <a:r>
              <a:t>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54480"/>
            <a:ext cx="2651760" cy="4572000"/>
          </a:xfrm>
          <a:prstGeom prst="roundRect">
            <a:avLst/>
          </a:prstGeom>
          <a:solidFill>
            <a:srgbClr val="1A1E2B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6916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4D399"/>
                </a:solidFill>
                <a:latin typeface="Calibri"/>
              </a:defRPr>
            </a:pPr>
            <a:r>
              <a:t>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103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2E4EA"/>
                </a:solidFill>
                <a:latin typeface="Calibri"/>
              </a:defRPr>
            </a:pPr>
            <a:r>
              <a:t>ChromaDB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4D399"/>
                </a:solidFill>
                <a:latin typeface="Calibri"/>
              </a:defRPr>
            </a:pPr>
            <a:r>
              <a:t>The Searcher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01752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Stores vectors &amp; finds</a:t>
            </a:r>
            <a:br/>
            <a:r>
              <a:t>Top 3 closest matches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840480"/>
            <a:ext cx="2377440" cy="2011680"/>
          </a:xfrm>
          <a:prstGeom prst="roundRect">
            <a:avLst/>
          </a:prstGeom>
          <a:solidFill>
            <a:srgbClr val="0A0C12"/>
          </a:solidFill>
          <a:ln w="12700">
            <a:solidFill>
              <a:srgbClr val="2A2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76200"/>
          <a:lstStyle/>
          <a:p>
            <a:pPr algn="ctr">
              <a:defRPr sz="1000">
                <a:solidFill>
                  <a:srgbClr val="6B7280"/>
                </a:solidFill>
                <a:latin typeface="Consolas"/>
              </a:defRPr>
            </a:pPr>
            <a:r>
              <a:t>collection.query(</a:t>
            </a:r>
          </a:p>
          <a:p>
            <a:pPr>
              <a:defRPr sz="1000">
                <a:solidFill>
                  <a:srgbClr val="6B7280"/>
                </a:solidFill>
                <a:latin typeface="Consolas"/>
              </a:defRPr>
            </a:pPr>
            <a:r>
              <a:t>  query_embeddings=[vec],</a:t>
            </a:r>
          </a:p>
          <a:p>
            <a:pPr>
              <a:defRPr sz="1000">
                <a:solidFill>
                  <a:srgbClr val="6B7280"/>
                </a:solidFill>
                <a:latin typeface="Consolas"/>
              </a:defRPr>
            </a:pPr>
            <a:r>
              <a:t>  n_results=3</a:t>
            </a:r>
          </a:p>
          <a:p>
            <a:pPr>
              <a:defRPr sz="1000">
                <a:solidFill>
                  <a:srgbClr val="6B7280"/>
                </a:solidFill>
                <a:latin typeface="Consolas"/>
              </a:defRPr>
            </a:pPr>
            <a:r>
              <a:t>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98280" y="1554480"/>
            <a:ext cx="2651760" cy="4572000"/>
          </a:xfrm>
          <a:prstGeom prst="roundRect">
            <a:avLst/>
          </a:prstGeom>
          <a:solidFill>
            <a:srgbClr val="1A1E2B"/>
          </a:solidFill>
          <a:ln w="127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16916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74B9FF"/>
                </a:solidFill>
                <a:latin typeface="Calibri"/>
              </a:defRPr>
            </a:pPr>
            <a:r>
              <a:t>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2103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2E4EA"/>
                </a:solidFill>
                <a:latin typeface="Calibri"/>
              </a:defRPr>
            </a:pPr>
            <a:r>
              <a:t>OpenAI</a:t>
            </a:r>
            <a:br/>
            <a:r>
              <a:t>Chat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4B9FF"/>
                </a:solidFill>
                <a:latin typeface="Calibri"/>
              </a:defRPr>
            </a:pPr>
            <a:r>
              <a:t>The Writer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301752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Reads context &amp; writes</a:t>
            </a:r>
            <a:br/>
            <a:r>
              <a:t>the final answer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35440" y="3840480"/>
            <a:ext cx="2377440" cy="2011680"/>
          </a:xfrm>
          <a:prstGeom prst="roundRect">
            <a:avLst/>
          </a:prstGeom>
          <a:solidFill>
            <a:srgbClr val="0A0C12"/>
          </a:solidFill>
          <a:ln w="12700">
            <a:solidFill>
              <a:srgbClr val="2A2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76200"/>
          <a:lstStyle/>
          <a:p>
            <a:pPr algn="ctr">
              <a:defRPr sz="1000">
                <a:solidFill>
                  <a:srgbClr val="6B7280"/>
                </a:solidFill>
                <a:latin typeface="Consolas"/>
              </a:defRPr>
            </a:pPr>
            <a:r>
              <a:t>client.chat.completions.create(</a:t>
            </a:r>
          </a:p>
          <a:p>
            <a:pPr>
              <a:defRPr sz="1000">
                <a:solidFill>
                  <a:srgbClr val="6B7280"/>
                </a:solidFill>
                <a:latin typeface="Consolas"/>
              </a:defRPr>
            </a:pPr>
            <a:r>
              <a:t>  model="gpt-4o-mini",</a:t>
            </a:r>
          </a:p>
          <a:p>
            <a:pPr>
              <a:defRPr sz="1000">
                <a:solidFill>
                  <a:srgbClr val="6B7280"/>
                </a:solidFill>
                <a:latin typeface="Consolas"/>
              </a:defRPr>
            </a:pPr>
            <a:r>
              <a:t>  messages=[...]</a:t>
            </a:r>
          </a:p>
          <a:p>
            <a:pPr>
              <a:defRPr sz="1000">
                <a:solidFill>
                  <a:srgbClr val="6B7280"/>
                </a:solidFill>
                <a:latin typeface="Consolas"/>
              </a:defRPr>
            </a:pPr>
            <a:r>
              <a:t>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2E4EA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5912" cy="822960"/>
          </a:xfrm>
          <a:prstGeom prst="roundRect">
            <a:avLst/>
          </a:prstGeom>
          <a:solidFill>
            <a:srgbClr val="1A1E2B"/>
          </a:solidFill>
          <a:ln w="12700">
            <a:solidFill>
              <a:srgbClr val="2A2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" y="1536192"/>
            <a:ext cx="457200" cy="457200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E2E4EA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63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E4EA"/>
                </a:solidFill>
                <a:latin typeface="Calibri"/>
              </a:defRPr>
            </a:pPr>
            <a:r>
              <a:t>RAG = Open Book Exam for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783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Instead of training a custom model, we search a database and hand the AI the relevant pages.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77440"/>
            <a:ext cx="10725912" cy="822960"/>
          </a:xfrm>
          <a:prstGeom prst="roundRect">
            <a:avLst/>
          </a:prstGeom>
          <a:solidFill>
            <a:srgbClr val="1A1E2B"/>
          </a:solidFill>
          <a:ln w="12700">
            <a:solidFill>
              <a:srgbClr val="2A2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542032"/>
            <a:ext cx="457200" cy="4572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E2E4EA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4688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E4EA"/>
                </a:solidFill>
                <a:latin typeface="Calibri"/>
              </a:defRPr>
            </a:pPr>
            <a:r>
              <a:t>The LLM never sees ALL your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788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ChromaDB narrows 1 lakh chunks down to the Top 3. The LLM only reads those 3.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383280"/>
            <a:ext cx="10725912" cy="822960"/>
          </a:xfrm>
          <a:prstGeom prst="roundRect">
            <a:avLst/>
          </a:prstGeom>
          <a:solidFill>
            <a:srgbClr val="1A1E2B"/>
          </a:solidFill>
          <a:ln w="12700">
            <a:solidFill>
              <a:srgbClr val="2A2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5840" y="3547872"/>
            <a:ext cx="457200" cy="457200"/>
          </a:xfrm>
          <a:prstGeom prst="ellipse">
            <a:avLst/>
          </a:prstGeom>
          <a:solidFill>
            <a:srgbClr val="FDC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E2E4EA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4747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E4EA"/>
                </a:solidFill>
                <a:latin typeface="Calibri"/>
              </a:defRPr>
            </a:pPr>
            <a:r>
              <a:t>The prompt controls strictness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794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"Answer ONLY from context" makes it strict. You can also allow fallback to general knowledge.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389120"/>
            <a:ext cx="10725912" cy="822960"/>
          </a:xfrm>
          <a:prstGeom prst="roundRect">
            <a:avLst/>
          </a:prstGeom>
          <a:solidFill>
            <a:srgbClr val="1A1E2B"/>
          </a:solidFill>
          <a:ln w="12700">
            <a:solidFill>
              <a:srgbClr val="2A2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40" y="4553712"/>
            <a:ext cx="457200" cy="457200"/>
          </a:xfrm>
          <a:prstGeom prst="ellipse">
            <a:avLst/>
          </a:prstGeom>
          <a:solidFill>
            <a:srgbClr val="74B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E2E4EA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480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E4EA"/>
                </a:solidFill>
                <a:latin typeface="Calibri"/>
              </a:defRPr>
            </a:pPr>
            <a:r>
              <a:t>Embeddings capture meaning, not keywords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800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"How many holidays?" and "Leave entitlement" have similar vectors even though they share zero words.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394960"/>
            <a:ext cx="10725912" cy="822960"/>
          </a:xfrm>
          <a:prstGeom prst="roundRect">
            <a:avLst/>
          </a:prstGeom>
          <a:solidFill>
            <a:srgbClr val="1A1E2B"/>
          </a:solidFill>
          <a:ln w="12700">
            <a:solidFill>
              <a:srgbClr val="2A2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5840" y="5559552"/>
            <a:ext cx="457200" cy="457200"/>
          </a:xfrm>
          <a:prstGeom prst="ellipse">
            <a:avLst/>
          </a:prstGeom>
          <a:solidFill>
            <a:srgbClr val="FD7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E2E4EA"/>
                </a:solidFill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54864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E4EA"/>
                </a:solidFill>
                <a:latin typeface="Calibri"/>
              </a:defRPr>
            </a:pPr>
            <a:r>
              <a:t>Updates are instant — no retraining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58064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Change a policy? Just re-ingest the new document. The pipeline uses it immediately.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0" y="3017520"/>
            <a:ext cx="2130552" cy="54864"/>
          </a:xfrm>
          <a:prstGeom prst="round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E2E4EA"/>
                </a:solidFill>
                <a:latin typeface="Calibri"/>
              </a:defRPr>
            </a:pPr>
            <a:r>
              <a:t>Thank You! 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18CF8"/>
                </a:solidFill>
                <a:latin typeface="Calibri"/>
              </a:defRPr>
            </a:pPr>
            <a:r>
              <a:t>Try the live demo at  http://localhost:5050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280"/>
                </a:solidFill>
                <a:latin typeface="Calibri"/>
              </a:defRPr>
            </a:pPr>
            <a:r>
              <a:t>GitHub: github.com/bhargavt1997/AG-Rag-Demo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