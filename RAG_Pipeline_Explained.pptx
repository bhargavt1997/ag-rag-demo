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6"/>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9589"/>
  </p:normalViewPr>
  <p:slideViewPr>
    <p:cSldViewPr snapToGrid="0" snapToObjects="1">
      <p:cViewPr varScale="1">
        <p:scale>
          <a:sx n="73" d="100"/>
          <a:sy n="73" d="100"/>
        </p:scale>
        <p:origin x="261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27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Hey everyone, welcome! 👋</a:t>
            </a:r>
          </a:p>
          <a:p>
            <a:endParaRPr/>
          </a:p>
          <a:p>
            <a:r>
              <a:t>So today we're going to talk about something really interesting — RAG, which stands for Retrieval-Augmented Generation.</a:t>
            </a:r>
          </a:p>
          <a:p>
            <a:endParaRPr/>
          </a:p>
          <a:p>
            <a:r>
              <a:t>Before I jump into what RAG is, let me ask you guys a quick question…</a:t>
            </a:r>
          </a:p>
          <a:p>
            <a:endParaRPr/>
          </a:p>
          <a:p>
            <a:r>
              <a:t>🗣️ [ASK THE AUDIENCE]: "Has anyone here used ChatGPT? Raise your hands."</a:t>
            </a:r>
          </a:p>
          <a:p>
            <a:endParaRPr/>
          </a:p>
          <a:p>
            <a:r>
              <a:t>Great. Now — "Have you ever asked ChatGPT about your company's internal policies? Like, 'How many leaves do I get?' or 'What's our WFH policy?'"</a:t>
            </a:r>
          </a:p>
          <a:p>
            <a:endParaRPr/>
          </a:p>
          <a:p>
            <a:r>
              <a:t>It can't answer, right? And that's EXACTLY the problem we're solving today.</a:t>
            </a:r>
          </a:p>
          <a:p>
            <a:endParaRPr/>
          </a:p>
          <a:p>
            <a:r>
              <a:t>We built a small demo using Python, Flask, OpenAI, and ChromaDB — and by the end of this session, you'll understand every single line of code behind it.</a:t>
            </a:r>
          </a:p>
          <a:p>
            <a:endParaRPr/>
          </a:p>
          <a:p>
            <a:r>
              <a:t>Let's get started!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Alright, so let's talk about WHY we need RAG in the first place.</a:t>
            </a:r>
          </a:p>
          <a:p>
            <a:endParaRPr/>
          </a:p>
          <a:p>
            <a:r>
              <a:t>🗣️ [ASK]: "If I go to ChatGPT right now and ask 'How many paid leaves does our company give?' — what will happen?"</a:t>
            </a:r>
          </a:p>
          <a:p>
            <a:endParaRPr/>
          </a:p>
          <a:p>
            <a:r>
              <a:t>Exactly — it will either make up an answer (which is called a "hallucination"), OR it'll say "I don't have access to your company's data."</a:t>
            </a:r>
          </a:p>
          <a:p>
            <a:endParaRPr/>
          </a:p>
          <a:p>
            <a:r>
              <a:t>So there are 3 big problems here:</a:t>
            </a:r>
          </a:p>
          <a:p>
            <a:endParaRPr/>
          </a:p>
          <a:p>
            <a:r>
              <a:t>1️⃣ NO ACCESS TO PRIVATE DATA — ChatGPT was trained on internet data. It has NEVER read your company's HR policy, your Jira tickets, or your internal Wiki. It literally doesn't know.</a:t>
            </a:r>
          </a:p>
          <a:p>
            <a:endParaRPr/>
          </a:p>
          <a:p>
            <a:r>
              <a:t>2️⃣ TRAINING IS EXPENSIVE — "But can't we just train our own model?" Sure! That costs tens of thousands of dollars, takes weeks, and needs a dedicated ML team. Not practical for most companies.</a:t>
            </a:r>
          </a:p>
          <a:p>
            <a:endParaRPr/>
          </a:p>
          <a:p>
            <a:r>
              <a:t>3️⃣ HALLUCINATIONS — This is the scary one. Without real data to ground its answers, the AI will CONFIDENTLY make up answers. Imagine it telling an employee "You get 30 leaves" when the policy says 20. That's dangerous.</a:t>
            </a:r>
          </a:p>
          <a:p>
            <a:endParaRPr/>
          </a:p>
          <a:p>
            <a:r>
              <a:t>So what's the solution?</a:t>
            </a:r>
          </a:p>
          <a:p>
            <a:endParaRPr/>
          </a:p>
          <a:p>
            <a:r>
              <a:t>👉 RAG — Retrieval-Augmented Generation.</a:t>
            </a:r>
          </a:p>
          <a:p>
            <a:endParaRPr/>
          </a:p>
          <a:p>
            <a:r>
              <a:t>Think of it like this — instead of training the AI on all your data (expensive), we treat the AI like a student taking an OPEN BOOK EXAM.</a:t>
            </a:r>
          </a:p>
          <a:p>
            <a:endParaRPr/>
          </a:p>
          <a:p>
            <a:r>
              <a:t>🗣️ [ASK]: "In an open book exam, does the student need to memorize everything?"</a:t>
            </a:r>
          </a:p>
          <a:p>
            <a:endParaRPr/>
          </a:p>
          <a:p>
            <a:r>
              <a:t>No! They search the book, find the relevant page, and write their answer based on that page. That's EXACTLY what RAG does.</a:t>
            </a:r>
          </a:p>
          <a:p>
            <a:endParaRPr/>
          </a:p>
          <a:p>
            <a:r>
              <a:t>We search a database, grab the relevant paragraphs, hand them to the AI, and say: "Answer using ONLY these paragraphs." Simple and powerful.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break down what R-A-G actually means. There are 3 steps:</a:t>
            </a:r>
          </a:p>
          <a:p>
            <a:endParaRPr/>
          </a:p>
          <a:p>
            <a:r>
              <a:t>R — RETRIEVAL</a:t>
            </a:r>
          </a:p>
          <a:p>
            <a:r>
              <a:t>This is where we search our vector database. We have, say, 1 lakh chunks of text stored. When a user asks a question, we don't send ALL 1 lakh chunks to the AI — that would be slow and expensive. Instead, we SEARCH for just the top 3 most relevant chunks.</a:t>
            </a:r>
          </a:p>
          <a:p>
            <a:endParaRPr/>
          </a:p>
          <a:p>
            <a:r>
              <a:t>🗣️ [ASK]: "Why just 3? Why not all of them?"</a:t>
            </a:r>
          </a:p>
          <a:p>
            <a:r>
              <a:t>Because LLMs have a limited context window — they can only read so much text at once. Plus, sending less = faster + cheaper.</a:t>
            </a:r>
          </a:p>
          <a:p>
            <a:endParaRPr/>
          </a:p>
          <a:p>
            <a:r>
              <a:t>A — AUGMENTED</a:t>
            </a:r>
          </a:p>
          <a:p>
            <a:r>
              <a:t>Now we take those 3 chunks and INJECT them into the prompt. We literally paste them above the user's question and say "Here's your context." This is the "augmentation" — we're augmenting the prompt with real data.</a:t>
            </a:r>
          </a:p>
          <a:p>
            <a:endParaRPr/>
          </a:p>
          <a:p>
            <a:r>
              <a:t>G — GENERATION</a:t>
            </a:r>
          </a:p>
          <a:p>
            <a:r>
              <a:t>Finally, the LLM reads the context + question and GENERATES an answer. But now it's grounded in real data, not guessing.</a:t>
            </a:r>
          </a:p>
          <a:p>
            <a:endParaRPr/>
          </a:p>
          <a:p>
            <a:r>
              <a:t>The key insight here — and I want you to remember this:</a:t>
            </a:r>
          </a:p>
          <a:p>
            <a:endParaRPr/>
          </a:p>
          <a:p>
            <a:r>
              <a:t>"Search 1 lakh chunks. Retrieve 3. Generate with 3."</a:t>
            </a:r>
          </a:p>
          <a:p>
            <a:endParaRPr/>
          </a:p>
          <a:p>
            <a:r>
              <a:t>No matter how much data you have — 10 documents or 10 million — the AI only ever reads a tiny handful of highly relevant text. That's what makes RAG scalable.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let's look at HOW this actually works in code. There are two pipelines — the first one is Ingestion.</a:t>
            </a:r>
          </a:p>
          <a:p>
            <a:endParaRPr dirty="0"/>
          </a:p>
          <a:p>
            <a:r>
              <a:rPr dirty="0"/>
              <a:t>Ingestion means: "Getting your documents ready for search."</a:t>
            </a:r>
          </a:p>
          <a:p>
            <a:endParaRPr dirty="0"/>
          </a:p>
          <a:p>
            <a:r>
              <a:rPr lang="en-IN" sz="1200" b="0" i="0" kern="1200" dirty="0">
                <a:solidFill>
                  <a:schemeClr val="tx1"/>
                </a:solidFill>
                <a:effectLst/>
                <a:latin typeface="+mn-lt"/>
                <a:ea typeface="+mn-ea"/>
                <a:cs typeface="+mn-cs"/>
              </a:rPr>
              <a:t>Think of it like Google. Before you can Google something, Google first has to CRAWL and INDEX millions of web pages. That crawling + indexing part? That's what ingestion is. We're preparing our documents so they're searchable.</a:t>
            </a:r>
            <a:endParaRPr dirty="0"/>
          </a:p>
          <a:p>
            <a:r>
              <a:rPr dirty="0"/>
              <a:t>There are 3 steps:</a:t>
            </a:r>
          </a:p>
          <a:p>
            <a:endParaRPr dirty="0"/>
          </a:p>
          <a:p>
            <a:r>
              <a:rPr dirty="0"/>
              <a:t>STEP 1 — CHUNKING (Python does this)</a:t>
            </a:r>
          </a:p>
          <a:p>
            <a:r>
              <a:rPr dirty="0"/>
              <a:t>We take raw text — like an HR policy document — and split it into smaller pieces. In our demo, we split by newlines (paragraphs).</a:t>
            </a:r>
          </a:p>
          <a:p>
            <a:endParaRPr dirty="0"/>
          </a:p>
          <a:p>
            <a:r>
              <a:rPr dirty="0"/>
              <a:t>🗣️ [ASK]: "Why do we split? Why not store the entire document as one big blob?"</a:t>
            </a:r>
          </a:p>
          <a:p>
            <a:r>
              <a:rPr dirty="0"/>
              <a:t>Because if you store a 50-page document as one chunk, and the user asks about leave policy, you'd retrieve ALL 50 pages. The AI would have to read through everything to find the answer. That's wasteful and slow. Smaller chunks = more precise retrieval.</a:t>
            </a:r>
          </a:p>
          <a:p>
            <a:endParaRPr dirty="0"/>
          </a:p>
          <a:p>
            <a:r>
              <a:rPr dirty="0"/>
              <a:t>STEP 2 — EMBEDDING (OpenAI does this)</a:t>
            </a:r>
          </a:p>
          <a:p>
            <a:r>
              <a:rPr dirty="0"/>
              <a:t>Each chunk gets sent to OpenAI's embedding API. It comes back as a list of 1,536 numbers — a "vector." I'll explain vectors in detail in a later slide, but for now, just think of it as "converting text to math."</a:t>
            </a:r>
          </a:p>
          <a:p>
            <a:endParaRPr dirty="0"/>
          </a:p>
          <a:p>
            <a:r>
              <a:rPr dirty="0"/>
              <a:t>STEP 3 — STORING (</a:t>
            </a:r>
            <a:r>
              <a:rPr dirty="0" err="1"/>
              <a:t>ChromaDB</a:t>
            </a:r>
            <a:r>
              <a:rPr dirty="0"/>
              <a:t> does this)</a:t>
            </a:r>
          </a:p>
          <a:p>
            <a:r>
              <a:rPr dirty="0"/>
              <a:t>We store both the original text AND its vector side by side in </a:t>
            </a:r>
            <a:r>
              <a:rPr dirty="0" err="1"/>
              <a:t>ChromaDB</a:t>
            </a:r>
            <a:r>
              <a:rPr dirty="0"/>
              <a:t>. So later, when someone searches, </a:t>
            </a:r>
            <a:r>
              <a:rPr dirty="0" err="1"/>
              <a:t>ChromaDB</a:t>
            </a:r>
            <a:r>
              <a:rPr dirty="0"/>
              <a:t> can compare vectors to find matches.</a:t>
            </a:r>
          </a:p>
          <a:p>
            <a:endParaRPr dirty="0"/>
          </a:p>
          <a:p>
            <a:r>
              <a:rPr dirty="0"/>
              <a:t>Look at the code on the right — it's literally just a for loop:</a:t>
            </a:r>
          </a:p>
          <a:p>
            <a:r>
              <a:rPr dirty="0"/>
              <a:t>- For each document chunk, call </a:t>
            </a:r>
            <a:r>
              <a:rPr dirty="0" err="1"/>
              <a:t>get_embedding</a:t>
            </a:r>
            <a:r>
              <a:rPr dirty="0"/>
              <a:t>() to get the vector</a:t>
            </a:r>
          </a:p>
          <a:p>
            <a:r>
              <a:rPr dirty="0"/>
              <a:t>- Then call </a:t>
            </a:r>
            <a:r>
              <a:rPr dirty="0" err="1"/>
              <a:t>collection.add</a:t>
            </a:r>
            <a:r>
              <a:rPr dirty="0"/>
              <a:t>() to store it in </a:t>
            </a:r>
            <a:r>
              <a:rPr dirty="0" err="1"/>
              <a:t>ChromaDB</a:t>
            </a:r>
            <a:endParaRPr dirty="0"/>
          </a:p>
          <a:p>
            <a:r>
              <a:rPr dirty="0"/>
              <a:t>- That's it! Three lines of meaningful code.</a:t>
            </a:r>
          </a:p>
          <a:p>
            <a:endParaRPr dirty="0"/>
          </a:p>
          <a:p>
            <a:r>
              <a:rPr dirty="0"/>
              <a:t>The flow at the bottom summarizes it:</a:t>
            </a:r>
          </a:p>
          <a:p>
            <a:r>
              <a:rPr dirty="0"/>
              <a:t>📄 Raw Text → ✂️ Chunks → 🧠 Vectors → 💾 </a:t>
            </a:r>
            <a:r>
              <a:rPr dirty="0" err="1"/>
              <a:t>ChromaDB</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Pipeline 2 is where the magic happens — this is the actual RAG pipeline that runs when a user asks a question.</a:t>
            </a:r>
          </a:p>
          <a:p>
            <a:endParaRPr dirty="0"/>
          </a:p>
          <a:p>
            <a:r>
              <a:rPr dirty="0"/>
              <a:t>Let me walk through the 4 steps:</a:t>
            </a:r>
          </a:p>
          <a:p>
            <a:endParaRPr dirty="0"/>
          </a:p>
          <a:p>
            <a:r>
              <a:rPr dirty="0"/>
              <a:t>STEP 1 — EMBED THE QUERY</a:t>
            </a:r>
          </a:p>
          <a:p>
            <a:r>
              <a:rPr dirty="0"/>
              <a:t>When a user types "How many leaves do I get?", we FIRST convert that question into a vector — the same way we converted document chunks. Why? Because we need to compare apples to apples. The question needs to be in the same "math language" as our stored chunks.</a:t>
            </a:r>
          </a:p>
          <a:p>
            <a:endParaRPr dirty="0"/>
          </a:p>
          <a:p>
            <a:r>
              <a:rPr dirty="0"/>
              <a:t>STEP 2 — RETRIEVE (The "R" in RAG)</a:t>
            </a:r>
          </a:p>
          <a:p>
            <a:r>
              <a:rPr dirty="0"/>
              <a:t>Now </a:t>
            </a:r>
            <a:r>
              <a:rPr dirty="0" err="1"/>
              <a:t>ChromaDB</a:t>
            </a:r>
            <a:r>
              <a:rPr dirty="0"/>
              <a:t> takes the question vector and compares it against ALL stored vectors using cosine similarity. It returns the Top 3 closest matches.</a:t>
            </a:r>
          </a:p>
          <a:p>
            <a:endParaRPr dirty="0"/>
          </a:p>
          <a:p>
            <a:r>
              <a:rPr dirty="0"/>
              <a:t>🗣️ [ASK]: "What does 'closest' mean here?"</a:t>
            </a:r>
          </a:p>
          <a:p>
            <a:r>
              <a:rPr dirty="0"/>
              <a:t>It means the chunks whose meaning is most similar to the question. Not keyword matching — MEANING matching. "How many holidays?" and "Leave entitlement" would match even though they share zero words.</a:t>
            </a:r>
          </a:p>
          <a:p>
            <a:endParaRPr dirty="0"/>
          </a:p>
          <a:p>
            <a:r>
              <a:rPr dirty="0"/>
              <a:t>STEP 3 — AUGMENT (The "A" in RAG)</a:t>
            </a:r>
          </a:p>
          <a:p>
            <a:r>
              <a:rPr dirty="0"/>
              <a:t>We take those 3 retrieved chunks and glue them into the prompt as "Context." The prompt literally looks like:</a:t>
            </a:r>
          </a:p>
          <a:p>
            <a:endParaRPr dirty="0"/>
          </a:p>
          <a:p>
            <a:r>
              <a:rPr dirty="0"/>
              <a:t>"Answer the question using the context below:</a:t>
            </a:r>
          </a:p>
          <a:p>
            <a:r>
              <a:rPr dirty="0"/>
              <a:t>Context: [chunk 1, chunk 2, chunk 3]</a:t>
            </a:r>
          </a:p>
          <a:p>
            <a:r>
              <a:rPr dirty="0"/>
              <a:t>Question: How many leaves do I get?"</a:t>
            </a:r>
          </a:p>
          <a:p>
            <a:endParaRPr dirty="0"/>
          </a:p>
          <a:p>
            <a:r>
              <a:rPr dirty="0"/>
              <a:t>STEP 4 — GENERATE (The "G" in RAG)</a:t>
            </a:r>
          </a:p>
          <a:p>
            <a:r>
              <a:rPr dirty="0"/>
              <a:t>We send this augmented prompt to GPT-4o-mini. The LLM reads the context, finds the answer, and writes a response. Because it has real data in front of it, it won't hallucinate.</a:t>
            </a:r>
          </a:p>
          <a:p>
            <a:endParaRPr dirty="0"/>
          </a:p>
          <a:p>
            <a:r>
              <a:rPr dirty="0"/>
              <a:t>Look at the code on the right — it maps 1:1 to these 4 steps. That's the beauty of RAG — it's conceptually simple.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Let's dig deeper into embeddings because this is the core concept that makes RAG work.</a:t>
            </a:r>
          </a:p>
          <a:p>
            <a:endParaRPr dirty="0"/>
          </a:p>
          <a:p>
            <a:r>
              <a:rPr dirty="0"/>
              <a:t>🗣️ [ASK]: "How does a computer understand that 'How many holidays?' and 'Leave entitlement' mean the same thing? Computers only understand numbers, right?"</a:t>
            </a:r>
          </a:p>
          <a:p>
            <a:endParaRPr dirty="0"/>
          </a:p>
          <a:p>
            <a:r>
              <a:rPr dirty="0"/>
              <a:t>That's exactly the point. An embedding is how we convert human language into numbers that computers can compare.</a:t>
            </a:r>
          </a:p>
          <a:p>
            <a:endParaRPr dirty="0"/>
          </a:p>
          <a:p>
            <a:r>
              <a:rPr dirty="0"/>
              <a:t>When you call OpenAI's embedding API, it returns a list of 1,536 floating-point numbers. Each number captures some aspect of the text's MEANING — like topic, sentiment, formality, domain, etc.</a:t>
            </a:r>
          </a:p>
          <a:p>
            <a:endParaRPr dirty="0"/>
          </a:p>
          <a:p>
            <a:r>
              <a:rPr dirty="0"/>
              <a:t>Here's the key insight:</a:t>
            </a:r>
          </a:p>
          <a:p>
            <a:endParaRPr dirty="0"/>
          </a:p>
          <a:p>
            <a:r>
              <a:rPr dirty="0"/>
              <a:t>Sentences with SIMILAR MEANINGS produce SIMILAR VECTORS.</a:t>
            </a:r>
          </a:p>
          <a:p>
            <a:endParaRPr dirty="0"/>
          </a:p>
          <a:p>
            <a:r>
              <a:rPr dirty="0"/>
              <a:t>Look at the example on the slide:</a:t>
            </a:r>
          </a:p>
          <a:p>
            <a:r>
              <a:rPr dirty="0"/>
              <a:t>- "Employees get 20 paid leaves" → [0.021, -0.153, 0.087, 0.042, ...]</a:t>
            </a:r>
          </a:p>
          <a:p>
            <a:r>
              <a:rPr dirty="0"/>
              <a:t>- "How many holidays do staff receive?" → [0.019, -0.148, 0.091, 0.039, ...]</a:t>
            </a:r>
          </a:p>
          <a:p>
            <a:endParaRPr dirty="0"/>
          </a:p>
          <a:p>
            <a:r>
              <a:rPr dirty="0"/>
              <a:t>🗣️ [POINT TO NUMBERS]: "See how close these numbers are? 0.021 vs 0.019... -0.153 vs -0.148..."</a:t>
            </a:r>
          </a:p>
          <a:p>
            <a:endParaRPr dirty="0"/>
          </a:p>
          <a:p>
            <a:r>
              <a:rPr dirty="0"/>
              <a:t>That's not a coincidence! The model learned that these sentences mean the same thing, so it mapped them to nearly the same point in 1,536-dimensional space.</a:t>
            </a:r>
          </a:p>
          <a:p>
            <a:endParaRPr dirty="0"/>
          </a:p>
          <a:p>
            <a:r>
              <a:rPr dirty="0"/>
              <a:t>Now look at the code — it's literally 4 lines. Call the API, get the vector, return it. That's it.</a:t>
            </a:r>
          </a:p>
          <a:p>
            <a:endParaRPr dirty="0"/>
          </a:p>
          <a:p>
            <a:r>
              <a:rPr dirty="0" err="1"/>
              <a:t>ChromaDB</a:t>
            </a:r>
            <a:r>
              <a:rPr dirty="0"/>
              <a:t> then uses COSINE SIMILARITY to compare vectors:</a:t>
            </a:r>
          </a:p>
          <a:p>
            <a:r>
              <a:rPr dirty="0"/>
              <a:t>- Score 0.98 = almost identical meaning ✅</a:t>
            </a:r>
          </a:p>
          <a:p>
            <a:r>
              <a:rPr dirty="0"/>
              <a:t>- Score 0.50 = somewhat related</a:t>
            </a:r>
          </a:p>
          <a:p>
            <a:r>
              <a:rPr dirty="0"/>
              <a:t>- Score 0.05 = completely unrelated ❌</a:t>
            </a:r>
          </a:p>
          <a:p>
            <a:endParaRPr dirty="0"/>
          </a:p>
          <a:p>
            <a:r>
              <a:rPr dirty="0"/>
              <a:t>🗣️ [ASK]: "So when we say 'retrieve the top 3 chunks' — we mean the 3 chunks with the highest cosine similarity scores. Make sense?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give you a clear picture of who does what in our pipeline. There are 4 players:</a:t>
            </a:r>
          </a:p>
          <a:p>
            <a:endParaRPr dirty="0"/>
          </a:p>
          <a:p>
            <a:r>
              <a:rPr dirty="0"/>
              <a:t>🐍 PYTHON — The Chopper</a:t>
            </a:r>
          </a:p>
          <a:p>
            <a:r>
              <a:rPr dirty="0"/>
              <a:t>Python's job is simple — split the raw text into smaller chunks. In our demo, we just split by newline. In production, you'd use something smarter (we'll talk about chunking strategies later).</a:t>
            </a:r>
          </a:p>
          <a:p>
            <a:endParaRPr dirty="0"/>
          </a:p>
          <a:p>
            <a:r>
              <a:rPr dirty="0"/>
              <a:t>🧠 OPENAI EMBEDDINGS — The Translator</a:t>
            </a:r>
          </a:p>
          <a:p>
            <a:r>
              <a:rPr dirty="0"/>
              <a:t>OpenAI converts English text into math vectors. Think of it as a translator — it speaks both "human" and "math." We give it English, it gives us numbers.</a:t>
            </a:r>
          </a:p>
          <a:p>
            <a:endParaRPr dirty="0"/>
          </a:p>
          <a:p>
            <a:r>
              <a:rPr dirty="0"/>
              <a:t>💾 CHROMADB — The Searcher</a:t>
            </a:r>
          </a:p>
          <a:p>
            <a:r>
              <a:rPr dirty="0" err="1"/>
              <a:t>ChromaDB</a:t>
            </a:r>
            <a:r>
              <a:rPr dirty="0"/>
              <a:t> is our vector database. It stores all the vectors and, when asked, searches through them to find the closest matches. Think of it like a librarian who knows exactly which shelf has the book you need.</a:t>
            </a:r>
          </a:p>
          <a:p>
            <a:endParaRPr dirty="0"/>
          </a:p>
          <a:p>
            <a:r>
              <a:rPr dirty="0"/>
              <a:t>🗣️ [ASK]: "Does </a:t>
            </a:r>
            <a:r>
              <a:rPr dirty="0" err="1"/>
              <a:t>ChromaDB</a:t>
            </a:r>
            <a:r>
              <a:rPr dirty="0"/>
              <a:t> understand English?"</a:t>
            </a:r>
          </a:p>
          <a:p>
            <a:r>
              <a:rPr dirty="0"/>
              <a:t>No! It only understands vectors — numbers. It compares numbers to numbers. That's why we need the embedding step.</a:t>
            </a:r>
          </a:p>
          <a:p>
            <a:endParaRPr dirty="0"/>
          </a:p>
          <a:p>
            <a:r>
              <a:rPr dirty="0"/>
              <a:t>🤖 OPENAI CHAT — The Writer</a:t>
            </a:r>
          </a:p>
          <a:p>
            <a:r>
              <a:rPr dirty="0"/>
              <a:t>Finally, GPT-4o-mini reads the retrieved context and writes the final answer. This is the only step that produces human-readable text.</a:t>
            </a:r>
          </a:p>
          <a:p>
            <a:endParaRPr dirty="0"/>
          </a:p>
          <a:p>
            <a:r>
              <a:rPr dirty="0"/>
              <a:t>🗣️ [KEY POINT]: "Notice how each tool does ONE thing well. Python chops, OpenAI translates, </a:t>
            </a:r>
            <a:r>
              <a:rPr dirty="0" err="1"/>
              <a:t>ChromaDB</a:t>
            </a:r>
            <a:r>
              <a:rPr dirty="0"/>
              <a:t> searches, OpenAI Chat writes. That's good software design — single responsibility."</a:t>
            </a:r>
          </a:p>
          <a:p>
            <a:endParaRPr dirty="0"/>
          </a:p>
          <a:p>
            <a:r>
              <a:rPr dirty="0"/>
              <a:t>Look at the code snippets under each card — they're tiny! Each tool's job is just 3-4 lines of code. The power comes from combining them.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Alright, let me give you the 5 key points I want you to walk away with:</a:t>
            </a:r>
          </a:p>
          <a:p>
            <a:endParaRPr/>
          </a:p>
          <a:p>
            <a:r>
              <a:t>1️⃣ RAG = OPEN BOOK EXAM FOR AI</a:t>
            </a:r>
          </a:p>
          <a:p>
            <a:r>
              <a:t>Instead of fine-tuning a model (expensive, slow), we just search a database and give the AI the relevant pages. Simple, cheap, and effective.</a:t>
            </a:r>
          </a:p>
          <a:p>
            <a:endParaRPr/>
          </a:p>
          <a:p>
            <a:r>
              <a:t>2️⃣ THE LLM NEVER SEES ALL YOUR DATA</a:t>
            </a:r>
          </a:p>
          <a:p>
            <a:r>
              <a:t>This is important for both performance AND security. ChromaDB narrows 1 lakh chunks down to just 3. The LLM reads only those 3. Your entire database is never exposed to the AI.</a:t>
            </a:r>
          </a:p>
          <a:p>
            <a:endParaRPr/>
          </a:p>
          <a:p>
            <a:r>
              <a:t>🗣️ [ASK]: "Why is this good for security?"</a:t>
            </a:r>
          </a:p>
          <a:p>
            <a:r>
              <a:t>Because the LLM only sees what's relevant. It can't accidentally leak information from a document the user shouldn't have access to (if you add proper access controls).</a:t>
            </a:r>
          </a:p>
          <a:p>
            <a:endParaRPr/>
          </a:p>
          <a:p>
            <a:r>
              <a:t>3️⃣ THE PROMPT CONTROLS STRICTNESS</a:t>
            </a:r>
          </a:p>
          <a:p>
            <a:r>
              <a:t>If you say "Answer ONLY from context" — the AI won't make stuff up. If you allow fallback, it'll use general knowledge when context doesn't help. You control this behavior.</a:t>
            </a:r>
          </a:p>
          <a:p>
            <a:endParaRPr/>
          </a:p>
          <a:p>
            <a:r>
              <a:t>4️⃣ EMBEDDINGS CAPTURE MEANING, NOT KEYWORDS</a:t>
            </a:r>
          </a:p>
          <a:p>
            <a:r>
              <a:t>Traditional search uses keywords — if you search "holidays," it only finds documents with the word "holidays." Embedding search finds documents about LEAVE, PTO, TIME OFF, VACATION — all from searching "holidays." That's the superpower.</a:t>
            </a:r>
          </a:p>
          <a:p>
            <a:endParaRPr/>
          </a:p>
          <a:p>
            <a:r>
              <a:t>🗣️ [ASK]: "Can anyone think of a scenario where keyword search would fail but embedding search would succeed?"</a:t>
            </a:r>
          </a:p>
          <a:p>
            <a:r>
              <a:t>(Let them brainstorm — good examples: different languages, synonyms, paraphrased questions)</a:t>
            </a:r>
          </a:p>
          <a:p>
            <a:endParaRPr/>
          </a:p>
          <a:p>
            <a:r>
              <a:t>5️⃣ UPDATES ARE INSTANT</a:t>
            </a:r>
          </a:p>
          <a:p>
            <a:r>
              <a:t>Changed a policy? Just re-ingest the new document. No retraining needed. The pipeline picks it up immediately. This is a HUGE advantage over fine-tuned models.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go deeper into HOW a sentence becomes 1,536 numbers. This is the part that seems like magic, but it's actually a clear 4-step process.</a:t>
            </a:r>
          </a:p>
          <a:p>
            <a:endParaRPr/>
          </a:p>
          <a:p>
            <a:r>
              <a:t>STEP 1 — TOKENIZATION</a:t>
            </a:r>
          </a:p>
          <a:p>
            <a:r>
              <a:t>The model doesn't read words like we do. It breaks text into "tokens" — which are word-pieces. For example:</a:t>
            </a:r>
          </a:p>
          <a:p>
            <a:r>
              <a:t>"Employees" becomes ["Employ", "ees"]</a:t>
            </a:r>
          </a:p>
          <a:p>
            <a:endParaRPr/>
          </a:p>
          <a:p>
            <a:r>
              <a:t>🗣️ [ASK]: "Why not split by whole words?"</a:t>
            </a:r>
          </a:p>
          <a:p>
            <a:r>
              <a:t>Because there are millions of possible words (including misspellings, technical terms, etc.). Tokens let the model handle ANY text with a fixed vocabulary of ~50,000 pieces.</a:t>
            </a:r>
          </a:p>
          <a:p>
            <a:endParaRPr/>
          </a:p>
          <a:p>
            <a:r>
              <a:t>STEP 2 — TRANSFORMER NEURAL NETWORK</a:t>
            </a:r>
          </a:p>
          <a:p>
            <a:r>
              <a:t>These tokens pass through 12 transformer layers. This is where the MAGIC happens.</a:t>
            </a:r>
          </a:p>
          <a:p>
            <a:endParaRPr/>
          </a:p>
          <a:p>
            <a:r>
              <a:t>Each layer uses something called "self-attention" — it looks at how every token relates to every OTHER token in the sentence. For example, in "The bank by the river was flooded" — the word "bank" attends to "river" and "flooded," so the model knows it's a riverbank, NOT a financial bank.</a:t>
            </a:r>
          </a:p>
          <a:p>
            <a:endParaRPr/>
          </a:p>
          <a:p>
            <a:r>
              <a:t>🗣️ [KEY POINT]: "This is why embeddings understand CONTEXT, not just individual words."</a:t>
            </a:r>
          </a:p>
          <a:p>
            <a:endParaRPr/>
          </a:p>
          <a:p>
            <a:r>
              <a:t>STEP 3 — POOLING</a:t>
            </a:r>
          </a:p>
          <a:p>
            <a:r>
              <a:t>After the transformer layers, each token has its own representation. But we need ONE vector for the whole sentence. So we AVERAGE all token representations into a single 1,536-dimensional vector.</a:t>
            </a:r>
          </a:p>
          <a:p>
            <a:endParaRPr/>
          </a:p>
          <a:p>
            <a:r>
              <a:t>STEP 4 — NORMALIZATION</a:t>
            </a:r>
          </a:p>
          <a:p>
            <a:r>
              <a:t>The vector is scaled to have a length of 1. This is just a math trick so that cosine similarity works properly.</a:t>
            </a:r>
          </a:p>
          <a:p>
            <a:endParaRPr/>
          </a:p>
          <a:p>
            <a:r>
              <a:t>Now look at the right side — WHY 1,536 dimensions?</a:t>
            </a:r>
          </a:p>
          <a:p>
            <a:endParaRPr/>
          </a:p>
          <a:p>
            <a:r>
              <a:t>Think of it like a photograph:</a:t>
            </a:r>
          </a:p>
          <a:p>
            <a:r>
              <a:t>- 50 dimensions = blurry thumbnail (can barely tell what it is)</a:t>
            </a:r>
          </a:p>
          <a:p>
            <a:r>
              <a:t>- 384 dimensions = passport photo (recognizable but lacking detail)</a:t>
            </a:r>
          </a:p>
          <a:p>
            <a:r>
              <a:t>- 1,536 dimensions = HD portrait (that's us! Great quality at reasonable cost)</a:t>
            </a:r>
          </a:p>
          <a:p>
            <a:r>
              <a:t>- 3,072 dimensions = 4K ultra (overkill for most use cases, slower)</a:t>
            </a:r>
          </a:p>
          <a:p>
            <a:endParaRPr/>
          </a:p>
          <a:p>
            <a:r>
              <a:t>The table shows popular models and their sizes. We use text-embedding-3-small because it's the sweet spot of quality vs. speed and cost.</a:t>
            </a:r>
          </a:p>
          <a:p>
            <a:endParaRPr/>
          </a:p>
          <a:p>
            <a:r>
              <a:t>🗣️ [ASK]: "Any questions about this before we move on? This is the most technical slide, so no shame in asking.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ounded Rectangle 1"/>
          <p:cNvSpPr/>
          <p:nvPr/>
        </p:nvSpPr>
        <p:spPr>
          <a:xfrm>
            <a:off x="5029200" y="2560320"/>
            <a:ext cx="2130552" cy="54864"/>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60152" cy="1097280"/>
          </a:xfrm>
          <a:prstGeom prst="rect">
            <a:avLst/>
          </a:prstGeom>
          <a:noFill/>
        </p:spPr>
        <p:txBody>
          <a:bodyPr wrap="square">
            <a:spAutoFit/>
          </a:bodyPr>
          <a:lstStyle/>
          <a:p>
            <a:pPr algn="ctr">
              <a:defRPr sz="5400" b="1">
                <a:solidFill>
                  <a:srgbClr val="E2E4EA"/>
                </a:solidFill>
                <a:latin typeface="Calibri"/>
              </a:defRPr>
            </a:pPr>
            <a:r>
              <a:t>RAG Pipeline</a:t>
            </a:r>
          </a:p>
        </p:txBody>
      </p:sp>
      <p:sp>
        <p:nvSpPr>
          <p:cNvPr id="4" name="TextBox 3"/>
          <p:cNvSpPr txBox="1"/>
          <p:nvPr/>
        </p:nvSpPr>
        <p:spPr>
          <a:xfrm>
            <a:off x="914400" y="2103120"/>
            <a:ext cx="10360152" cy="548640"/>
          </a:xfrm>
          <a:prstGeom prst="rect">
            <a:avLst/>
          </a:prstGeom>
          <a:noFill/>
        </p:spPr>
        <p:txBody>
          <a:bodyPr wrap="square">
            <a:spAutoFit/>
          </a:bodyPr>
          <a:lstStyle/>
          <a:p>
            <a:pPr algn="ctr">
              <a:defRPr sz="2800" b="0">
                <a:solidFill>
                  <a:srgbClr val="818CF8"/>
                </a:solidFill>
                <a:latin typeface="Calibri"/>
              </a:defRPr>
            </a:pPr>
            <a:r>
              <a:t>Retrieval-Augmented Generation</a:t>
            </a:r>
          </a:p>
        </p:txBody>
      </p:sp>
      <p:sp>
        <p:nvSpPr>
          <p:cNvPr id="5" name="TextBox 4"/>
          <p:cNvSpPr txBox="1"/>
          <p:nvPr/>
        </p:nvSpPr>
        <p:spPr>
          <a:xfrm>
            <a:off x="914400" y="2926080"/>
            <a:ext cx="10360152" cy="731520"/>
          </a:xfrm>
          <a:prstGeom prst="rect">
            <a:avLst/>
          </a:prstGeom>
          <a:noFill/>
        </p:spPr>
        <p:txBody>
          <a:bodyPr wrap="square">
            <a:spAutoFit/>
          </a:bodyPr>
          <a:lstStyle/>
          <a:p>
            <a:pPr algn="ctr">
              <a:defRPr sz="1600" b="0">
                <a:solidFill>
                  <a:srgbClr val="6B7280"/>
                </a:solidFill>
                <a:latin typeface="Calibri"/>
              </a:defRPr>
            </a:pPr>
            <a:r>
              <a:t>A step-by-step walkthrough of how modern AI apps</a:t>
            </a:r>
            <a:br/>
            <a:r>
              <a:t>answer questions using your private data</a:t>
            </a:r>
          </a:p>
        </p:txBody>
      </p:sp>
      <p:sp>
        <p:nvSpPr>
          <p:cNvPr id="6" name="Rounded Rectangle 5"/>
          <p:cNvSpPr/>
          <p:nvPr/>
        </p:nvSpPr>
        <p:spPr>
          <a:xfrm>
            <a:off x="4023360" y="4114800"/>
            <a:ext cx="1005840" cy="365760"/>
          </a:xfrm>
          <a:prstGeom prst="roundRect">
            <a:avLst/>
          </a:prstGeom>
          <a:solidFill>
            <a:srgbClr val="1A1E2B"/>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818CF8"/>
                </a:solidFill>
                <a:latin typeface="Calibri"/>
              </a:defRPr>
            </a:pPr>
            <a:r>
              <a:t>OpenAI</a:t>
            </a:r>
          </a:p>
        </p:txBody>
      </p:sp>
      <p:sp>
        <p:nvSpPr>
          <p:cNvPr id="7" name="Rounded Rectangle 6"/>
          <p:cNvSpPr/>
          <p:nvPr/>
        </p:nvSpPr>
        <p:spPr>
          <a:xfrm>
            <a:off x="5212080" y="4114800"/>
            <a:ext cx="1005840" cy="365760"/>
          </a:xfrm>
          <a:prstGeom prst="roundRect">
            <a:avLst/>
          </a:prstGeom>
          <a:solidFill>
            <a:srgbClr val="1A1E2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4D399"/>
                </a:solidFill>
                <a:latin typeface="Calibri"/>
              </a:defRPr>
            </a:pPr>
            <a:r>
              <a:t>ChromaDB</a:t>
            </a:r>
          </a:p>
        </p:txBody>
      </p:sp>
      <p:sp>
        <p:nvSpPr>
          <p:cNvPr id="8" name="Rounded Rectangle 7"/>
          <p:cNvSpPr/>
          <p:nvPr/>
        </p:nvSpPr>
        <p:spPr>
          <a:xfrm>
            <a:off x="6400800" y="4114800"/>
            <a:ext cx="1005840" cy="365760"/>
          </a:xfrm>
          <a:prstGeom prst="roundRect">
            <a:avLst/>
          </a:prstGeom>
          <a:solidFill>
            <a:srgbClr val="1A1E2B"/>
          </a:solidFill>
          <a:ln w="12700">
            <a:solidFill>
              <a:srgbClr val="FDC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DCB6E"/>
                </a:solidFill>
                <a:latin typeface="Calibri"/>
              </a:defRPr>
            </a:pPr>
            <a:r>
              <a:t>Python</a:t>
            </a:r>
          </a:p>
        </p:txBody>
      </p:sp>
      <p:sp>
        <p:nvSpPr>
          <p:cNvPr id="9" name="Rounded Rectangle 8"/>
          <p:cNvSpPr/>
          <p:nvPr/>
        </p:nvSpPr>
        <p:spPr>
          <a:xfrm>
            <a:off x="7589520" y="4114800"/>
            <a:ext cx="1005840" cy="365760"/>
          </a:xfrm>
          <a:prstGeom prst="roundRect">
            <a:avLst/>
          </a:prstGeom>
          <a:solidFill>
            <a:srgbClr val="1A1E2B"/>
          </a:solidFill>
          <a:ln w="12700">
            <a:solidFill>
              <a:srgbClr val="74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74B9FF"/>
                </a:solidFill>
                <a:latin typeface="Calibri"/>
              </a:defRPr>
            </a:pPr>
            <a:r>
              <a:t>Flask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E2E4EA"/>
                </a:solidFill>
                <a:latin typeface="Calibri"/>
              </a:defRPr>
            </a:pPr>
            <a:r>
              <a:t>The Problem</a:t>
            </a:r>
          </a:p>
        </p:txBody>
      </p:sp>
      <p:sp>
        <p:nvSpPr>
          <p:cNvPr id="3" name="TextBox 2"/>
          <p:cNvSpPr txBox="1"/>
          <p:nvPr/>
        </p:nvSpPr>
        <p:spPr>
          <a:xfrm>
            <a:off x="731520" y="914400"/>
            <a:ext cx="10058400" cy="365760"/>
          </a:xfrm>
          <a:prstGeom prst="rect">
            <a:avLst/>
          </a:prstGeom>
          <a:noFill/>
        </p:spPr>
        <p:txBody>
          <a:bodyPr wrap="square">
            <a:spAutoFit/>
          </a:bodyPr>
          <a:lstStyle/>
          <a:p>
            <a:pPr algn="l">
              <a:defRPr sz="1600" b="0">
                <a:solidFill>
                  <a:srgbClr val="6B7280"/>
                </a:solidFill>
                <a:latin typeface="Calibri"/>
              </a:defRPr>
            </a:pPr>
            <a:r>
              <a:t>Why can't we just use ChatGPT directly?</a:t>
            </a:r>
          </a:p>
        </p:txBody>
      </p:sp>
      <p:sp>
        <p:nvSpPr>
          <p:cNvPr id="4" name="Rounded Rectangle 3"/>
          <p:cNvSpPr/>
          <p:nvPr/>
        </p:nvSpPr>
        <p:spPr>
          <a:xfrm>
            <a:off x="731520" y="1828800"/>
            <a:ext cx="3291840" cy="2286000"/>
          </a:xfrm>
          <a:prstGeom prst="roundRect">
            <a:avLst/>
          </a:prstGeom>
          <a:solidFill>
            <a:srgbClr val="1A1E2B"/>
          </a:solidFill>
          <a:ln w="12700">
            <a:solidFill>
              <a:srgbClr val="FF7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011680"/>
            <a:ext cx="2743200" cy="457200"/>
          </a:xfrm>
          <a:prstGeom prst="rect">
            <a:avLst/>
          </a:prstGeom>
          <a:noFill/>
        </p:spPr>
        <p:txBody>
          <a:bodyPr wrap="square">
            <a:spAutoFit/>
          </a:bodyPr>
          <a:lstStyle/>
          <a:p>
            <a:pPr algn="l">
              <a:defRPr sz="3200" b="0">
                <a:solidFill>
                  <a:srgbClr val="FF7675"/>
                </a:solidFill>
                <a:latin typeface="Calibri"/>
              </a:defRPr>
            </a:pPr>
            <a:r>
              <a:t>🔒</a:t>
            </a:r>
          </a:p>
        </p:txBody>
      </p:sp>
      <p:sp>
        <p:nvSpPr>
          <p:cNvPr id="6" name="TextBox 5"/>
          <p:cNvSpPr txBox="1"/>
          <p:nvPr/>
        </p:nvSpPr>
        <p:spPr>
          <a:xfrm>
            <a:off x="1005840" y="2560320"/>
            <a:ext cx="2743200" cy="365760"/>
          </a:xfrm>
          <a:prstGeom prst="rect">
            <a:avLst/>
          </a:prstGeom>
          <a:noFill/>
        </p:spPr>
        <p:txBody>
          <a:bodyPr wrap="square">
            <a:spAutoFit/>
          </a:bodyPr>
          <a:lstStyle/>
          <a:p>
            <a:pPr algn="l">
              <a:defRPr sz="1800" b="1">
                <a:solidFill>
                  <a:srgbClr val="E2E4EA"/>
                </a:solidFill>
                <a:latin typeface="Calibri"/>
              </a:defRPr>
            </a:pPr>
            <a:r>
              <a:t>No Access to Private Data</a:t>
            </a:r>
          </a:p>
        </p:txBody>
      </p:sp>
      <p:sp>
        <p:nvSpPr>
          <p:cNvPr id="7" name="TextBox 6"/>
          <p:cNvSpPr txBox="1"/>
          <p:nvPr/>
        </p:nvSpPr>
        <p:spPr>
          <a:xfrm>
            <a:off x="1005840" y="3017520"/>
            <a:ext cx="2743200" cy="914400"/>
          </a:xfrm>
          <a:prstGeom prst="rect">
            <a:avLst/>
          </a:prstGeom>
          <a:noFill/>
        </p:spPr>
        <p:txBody>
          <a:bodyPr wrap="square">
            <a:spAutoFit/>
          </a:bodyPr>
          <a:lstStyle/>
          <a:p>
            <a:pPr algn="l">
              <a:defRPr sz="1300" b="0">
                <a:solidFill>
                  <a:srgbClr val="6B7280"/>
                </a:solidFill>
                <a:latin typeface="Calibri"/>
              </a:defRPr>
            </a:pPr>
            <a:r>
              <a:t>ChatGPT has never read your company's HR policies,</a:t>
            </a:r>
            <a:br/>
            <a:r>
              <a:t>internal docs, or Jira tickets.</a:t>
            </a:r>
          </a:p>
        </p:txBody>
      </p:sp>
      <p:sp>
        <p:nvSpPr>
          <p:cNvPr id="8" name="Rounded Rectangle 7"/>
          <p:cNvSpPr/>
          <p:nvPr/>
        </p:nvSpPr>
        <p:spPr>
          <a:xfrm>
            <a:off x="4389120" y="1828800"/>
            <a:ext cx="3291840" cy="2286000"/>
          </a:xfrm>
          <a:prstGeom prst="roundRect">
            <a:avLst/>
          </a:prstGeom>
          <a:solidFill>
            <a:srgbClr val="1A1E2B"/>
          </a:solidFill>
          <a:ln w="12700">
            <a:solidFill>
              <a:srgbClr val="FDC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2011680"/>
            <a:ext cx="2743200" cy="457200"/>
          </a:xfrm>
          <a:prstGeom prst="rect">
            <a:avLst/>
          </a:prstGeom>
          <a:noFill/>
        </p:spPr>
        <p:txBody>
          <a:bodyPr wrap="square">
            <a:spAutoFit/>
          </a:bodyPr>
          <a:lstStyle/>
          <a:p>
            <a:pPr algn="l">
              <a:defRPr sz="3200" b="0">
                <a:solidFill>
                  <a:srgbClr val="FDCB6E"/>
                </a:solidFill>
                <a:latin typeface="Calibri"/>
              </a:defRPr>
            </a:pPr>
            <a:r>
              <a:t>💰</a:t>
            </a:r>
          </a:p>
        </p:txBody>
      </p:sp>
      <p:sp>
        <p:nvSpPr>
          <p:cNvPr id="10" name="TextBox 9"/>
          <p:cNvSpPr txBox="1"/>
          <p:nvPr/>
        </p:nvSpPr>
        <p:spPr>
          <a:xfrm>
            <a:off x="4663440" y="2560320"/>
            <a:ext cx="2743200" cy="365760"/>
          </a:xfrm>
          <a:prstGeom prst="rect">
            <a:avLst/>
          </a:prstGeom>
          <a:noFill/>
        </p:spPr>
        <p:txBody>
          <a:bodyPr wrap="square">
            <a:spAutoFit/>
          </a:bodyPr>
          <a:lstStyle/>
          <a:p>
            <a:pPr algn="l">
              <a:defRPr sz="1800" b="1">
                <a:solidFill>
                  <a:srgbClr val="E2E4EA"/>
                </a:solidFill>
                <a:latin typeface="Calibri"/>
              </a:defRPr>
            </a:pPr>
            <a:r>
              <a:t>Training is Expensive</a:t>
            </a:r>
          </a:p>
        </p:txBody>
      </p:sp>
      <p:sp>
        <p:nvSpPr>
          <p:cNvPr id="11" name="TextBox 10"/>
          <p:cNvSpPr txBox="1"/>
          <p:nvPr/>
        </p:nvSpPr>
        <p:spPr>
          <a:xfrm>
            <a:off x="4663440" y="3017520"/>
            <a:ext cx="2743200" cy="914400"/>
          </a:xfrm>
          <a:prstGeom prst="rect">
            <a:avLst/>
          </a:prstGeom>
          <a:noFill/>
        </p:spPr>
        <p:txBody>
          <a:bodyPr wrap="square">
            <a:spAutoFit/>
          </a:bodyPr>
          <a:lstStyle/>
          <a:p>
            <a:pPr algn="l">
              <a:defRPr sz="1300" b="0">
                <a:solidFill>
                  <a:srgbClr val="6B7280"/>
                </a:solidFill>
                <a:latin typeface="Calibri"/>
              </a:defRPr>
            </a:pPr>
            <a:r>
              <a:t>Fine-tuning a custom AI model costs thousands of</a:t>
            </a:r>
            <a:br/>
            <a:r>
              <a:t>dollars and takes weeks.</a:t>
            </a:r>
          </a:p>
        </p:txBody>
      </p:sp>
      <p:sp>
        <p:nvSpPr>
          <p:cNvPr id="12" name="Rounded Rectangle 11"/>
          <p:cNvSpPr/>
          <p:nvPr/>
        </p:nvSpPr>
        <p:spPr>
          <a:xfrm>
            <a:off x="8046720" y="1828800"/>
            <a:ext cx="3291840" cy="2286000"/>
          </a:xfrm>
          <a:prstGeom prst="roundRect">
            <a:avLst/>
          </a:prstGeom>
          <a:solidFill>
            <a:srgbClr val="1A1E2B"/>
          </a:solidFill>
          <a:ln w="12700">
            <a:solidFill>
              <a:srgbClr val="FD7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011680"/>
            <a:ext cx="2743200" cy="457200"/>
          </a:xfrm>
          <a:prstGeom prst="rect">
            <a:avLst/>
          </a:prstGeom>
          <a:noFill/>
        </p:spPr>
        <p:txBody>
          <a:bodyPr wrap="square">
            <a:spAutoFit/>
          </a:bodyPr>
          <a:lstStyle/>
          <a:p>
            <a:pPr algn="l">
              <a:defRPr sz="3200" b="0">
                <a:solidFill>
                  <a:srgbClr val="FD79A8"/>
                </a:solidFill>
                <a:latin typeface="Calibri"/>
              </a:defRPr>
            </a:pPr>
            <a:r>
              <a:t>🤥</a:t>
            </a:r>
          </a:p>
        </p:txBody>
      </p:sp>
      <p:sp>
        <p:nvSpPr>
          <p:cNvPr id="14" name="TextBox 13"/>
          <p:cNvSpPr txBox="1"/>
          <p:nvPr/>
        </p:nvSpPr>
        <p:spPr>
          <a:xfrm>
            <a:off x="8321040" y="2560320"/>
            <a:ext cx="2743200" cy="365760"/>
          </a:xfrm>
          <a:prstGeom prst="rect">
            <a:avLst/>
          </a:prstGeom>
          <a:noFill/>
        </p:spPr>
        <p:txBody>
          <a:bodyPr wrap="square">
            <a:spAutoFit/>
          </a:bodyPr>
          <a:lstStyle/>
          <a:p>
            <a:pPr algn="l">
              <a:defRPr sz="1800" b="1">
                <a:solidFill>
                  <a:srgbClr val="E2E4EA"/>
                </a:solidFill>
                <a:latin typeface="Calibri"/>
              </a:defRPr>
            </a:pPr>
            <a:r>
              <a:t>Hallucinations</a:t>
            </a:r>
          </a:p>
        </p:txBody>
      </p:sp>
      <p:sp>
        <p:nvSpPr>
          <p:cNvPr id="15" name="TextBox 14"/>
          <p:cNvSpPr txBox="1"/>
          <p:nvPr/>
        </p:nvSpPr>
        <p:spPr>
          <a:xfrm>
            <a:off x="8321040" y="3017520"/>
            <a:ext cx="2743200" cy="914400"/>
          </a:xfrm>
          <a:prstGeom prst="rect">
            <a:avLst/>
          </a:prstGeom>
          <a:noFill/>
        </p:spPr>
        <p:txBody>
          <a:bodyPr wrap="square">
            <a:spAutoFit/>
          </a:bodyPr>
          <a:lstStyle/>
          <a:p>
            <a:pPr algn="l">
              <a:defRPr sz="1300" b="0">
                <a:solidFill>
                  <a:srgbClr val="6B7280"/>
                </a:solidFill>
                <a:latin typeface="Calibri"/>
              </a:defRPr>
            </a:pPr>
            <a:r>
              <a:t>Without grounding, AI confidently makes up answers.</a:t>
            </a:r>
            <a:br/>
            <a:r>
              <a:t>This is dangerous for business use.</a:t>
            </a:r>
          </a:p>
        </p:txBody>
      </p:sp>
      <p:sp>
        <p:nvSpPr>
          <p:cNvPr id="16" name="Rounded Rectangle 15"/>
          <p:cNvSpPr/>
          <p:nvPr/>
        </p:nvSpPr>
        <p:spPr>
          <a:xfrm>
            <a:off x="731520" y="4754880"/>
            <a:ext cx="10725912" cy="1371600"/>
          </a:xfrm>
          <a:prstGeom prst="roundRect">
            <a:avLst/>
          </a:prstGeom>
          <a:solidFill>
            <a:srgbClr val="141A2E"/>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4846320"/>
            <a:ext cx="10058400" cy="457200"/>
          </a:xfrm>
          <a:prstGeom prst="rect">
            <a:avLst/>
          </a:prstGeom>
          <a:noFill/>
        </p:spPr>
        <p:txBody>
          <a:bodyPr wrap="square">
            <a:spAutoFit/>
          </a:bodyPr>
          <a:lstStyle/>
          <a:p>
            <a:pPr algn="l">
              <a:defRPr sz="2200" b="1">
                <a:solidFill>
                  <a:srgbClr val="818CF8"/>
                </a:solidFill>
                <a:latin typeface="Calibri"/>
              </a:defRPr>
            </a:pPr>
            <a:r>
              <a:t>💡 The Solution: RAG (Retrieval-Augmented Generation)</a:t>
            </a:r>
          </a:p>
        </p:txBody>
      </p:sp>
      <p:sp>
        <p:nvSpPr>
          <p:cNvPr id="18" name="TextBox 17"/>
          <p:cNvSpPr txBox="1"/>
          <p:nvPr/>
        </p:nvSpPr>
        <p:spPr>
          <a:xfrm>
            <a:off x="1097280" y="5349240"/>
            <a:ext cx="10058400" cy="640080"/>
          </a:xfrm>
          <a:prstGeom prst="rect">
            <a:avLst/>
          </a:prstGeom>
          <a:noFill/>
        </p:spPr>
        <p:txBody>
          <a:bodyPr wrap="square">
            <a:spAutoFit/>
          </a:bodyPr>
          <a:lstStyle/>
          <a:p>
            <a:pPr algn="l">
              <a:defRPr sz="1400" b="0">
                <a:solidFill>
                  <a:srgbClr val="E2E4EA"/>
                </a:solidFill>
                <a:latin typeface="Calibri"/>
              </a:defRPr>
            </a:pPr>
            <a:r>
              <a:t>Instead of training the AI, we treat the AI like a student taking an Open Book Exam.</a:t>
            </a:r>
            <a:br/>
            <a:r>
              <a:t>We search a database for relevant pages, hand them to the AI, and say: "Answer using ONLY these pages."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E2E4EA"/>
                </a:solidFill>
                <a:latin typeface="Calibri"/>
              </a:defRPr>
            </a:pPr>
            <a:r>
              <a:t>What is RAG?</a:t>
            </a:r>
          </a:p>
        </p:txBody>
      </p:sp>
      <p:sp>
        <p:nvSpPr>
          <p:cNvPr id="3" name="Oval 2"/>
          <p:cNvSpPr/>
          <p:nvPr/>
        </p:nvSpPr>
        <p:spPr>
          <a:xfrm>
            <a:off x="1828800" y="1645920"/>
            <a:ext cx="1097280" cy="1097280"/>
          </a:xfrm>
          <a:prstGeom prst="ellipse">
            <a:avLst/>
          </a:prstGeom>
          <a:solidFill>
            <a:srgbClr val="74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000" b="1">
                <a:solidFill>
                  <a:srgbClr val="E2E4EA"/>
                </a:solidFill>
                <a:latin typeface="Calibri"/>
              </a:defRPr>
            </a:pPr>
            <a:r>
              <a:t>R</a:t>
            </a:r>
          </a:p>
        </p:txBody>
      </p:sp>
      <p:sp>
        <p:nvSpPr>
          <p:cNvPr id="4" name="TextBox 3"/>
          <p:cNvSpPr txBox="1"/>
          <p:nvPr/>
        </p:nvSpPr>
        <p:spPr>
          <a:xfrm>
            <a:off x="731520" y="2926080"/>
            <a:ext cx="3291840" cy="457200"/>
          </a:xfrm>
          <a:prstGeom prst="rect">
            <a:avLst/>
          </a:prstGeom>
          <a:noFill/>
        </p:spPr>
        <p:txBody>
          <a:bodyPr wrap="square">
            <a:spAutoFit/>
          </a:bodyPr>
          <a:lstStyle/>
          <a:p>
            <a:pPr algn="ctr">
              <a:defRPr sz="2200" b="1">
                <a:solidFill>
                  <a:srgbClr val="74B9FF"/>
                </a:solidFill>
                <a:latin typeface="Calibri"/>
              </a:defRPr>
            </a:pPr>
            <a:r>
              <a:t>Retrieval</a:t>
            </a:r>
          </a:p>
        </p:txBody>
      </p:sp>
      <p:sp>
        <p:nvSpPr>
          <p:cNvPr id="5" name="TextBox 4"/>
          <p:cNvSpPr txBox="1"/>
          <p:nvPr/>
        </p:nvSpPr>
        <p:spPr>
          <a:xfrm>
            <a:off x="731520" y="3383280"/>
            <a:ext cx="3291840" cy="914400"/>
          </a:xfrm>
          <a:prstGeom prst="rect">
            <a:avLst/>
          </a:prstGeom>
          <a:noFill/>
        </p:spPr>
        <p:txBody>
          <a:bodyPr wrap="square">
            <a:spAutoFit/>
          </a:bodyPr>
          <a:lstStyle/>
          <a:p>
            <a:pPr algn="ctr">
              <a:defRPr sz="1400" b="0">
                <a:solidFill>
                  <a:srgbClr val="6B7280"/>
                </a:solidFill>
                <a:latin typeface="Calibri"/>
              </a:defRPr>
            </a:pPr>
            <a:r>
              <a:t>Search the vector database for</a:t>
            </a:r>
            <a:br/>
            <a:r>
              <a:t>the most relevant document chunks</a:t>
            </a:r>
          </a:p>
        </p:txBody>
      </p:sp>
      <p:sp>
        <p:nvSpPr>
          <p:cNvPr id="6" name="Oval 5"/>
          <p:cNvSpPr/>
          <p:nvPr/>
        </p:nvSpPr>
        <p:spPr>
          <a:xfrm>
            <a:off x="5486400" y="1645920"/>
            <a:ext cx="1097280" cy="1097280"/>
          </a:xfrm>
          <a:prstGeom prst="ellipse">
            <a:avLst/>
          </a:prstGeom>
          <a:solidFill>
            <a:srgbClr val="FD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000" b="1">
                <a:solidFill>
                  <a:srgbClr val="E2E4EA"/>
                </a:solidFill>
                <a:latin typeface="Calibri"/>
              </a:defRPr>
            </a:pPr>
            <a:r>
              <a:t>A</a:t>
            </a:r>
          </a:p>
        </p:txBody>
      </p:sp>
      <p:sp>
        <p:nvSpPr>
          <p:cNvPr id="7" name="TextBox 6"/>
          <p:cNvSpPr txBox="1"/>
          <p:nvPr/>
        </p:nvSpPr>
        <p:spPr>
          <a:xfrm>
            <a:off x="4389120" y="2926080"/>
            <a:ext cx="3291840" cy="457200"/>
          </a:xfrm>
          <a:prstGeom prst="rect">
            <a:avLst/>
          </a:prstGeom>
          <a:noFill/>
        </p:spPr>
        <p:txBody>
          <a:bodyPr wrap="square">
            <a:spAutoFit/>
          </a:bodyPr>
          <a:lstStyle/>
          <a:p>
            <a:pPr algn="ctr">
              <a:defRPr sz="2200" b="1">
                <a:solidFill>
                  <a:srgbClr val="FDCB6E"/>
                </a:solidFill>
                <a:latin typeface="Calibri"/>
              </a:defRPr>
            </a:pPr>
            <a:r>
              <a:t>Augmented</a:t>
            </a:r>
          </a:p>
        </p:txBody>
      </p:sp>
      <p:sp>
        <p:nvSpPr>
          <p:cNvPr id="8" name="TextBox 7"/>
          <p:cNvSpPr txBox="1"/>
          <p:nvPr/>
        </p:nvSpPr>
        <p:spPr>
          <a:xfrm>
            <a:off x="4389120" y="3383280"/>
            <a:ext cx="3291840" cy="914400"/>
          </a:xfrm>
          <a:prstGeom prst="rect">
            <a:avLst/>
          </a:prstGeom>
          <a:noFill/>
        </p:spPr>
        <p:txBody>
          <a:bodyPr wrap="square">
            <a:spAutoFit/>
          </a:bodyPr>
          <a:lstStyle/>
          <a:p>
            <a:pPr algn="ctr">
              <a:defRPr sz="1400" b="0">
                <a:solidFill>
                  <a:srgbClr val="6B7280"/>
                </a:solidFill>
                <a:latin typeface="Calibri"/>
              </a:defRPr>
            </a:pPr>
            <a:r>
              <a:t>Inject those chunks into the</a:t>
            </a:r>
            <a:br/>
            <a:r>
              <a:t>AI prompt as 'Context'</a:t>
            </a:r>
          </a:p>
        </p:txBody>
      </p:sp>
      <p:sp>
        <p:nvSpPr>
          <p:cNvPr id="9" name="Oval 8"/>
          <p:cNvSpPr/>
          <p:nvPr/>
        </p:nvSpPr>
        <p:spPr>
          <a:xfrm>
            <a:off x="9144000" y="1645920"/>
            <a:ext cx="1097280" cy="109728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000" b="1">
                <a:solidFill>
                  <a:srgbClr val="E2E4EA"/>
                </a:solidFill>
                <a:latin typeface="Calibri"/>
              </a:defRPr>
            </a:pPr>
            <a:r>
              <a:t>G</a:t>
            </a:r>
          </a:p>
        </p:txBody>
      </p:sp>
      <p:sp>
        <p:nvSpPr>
          <p:cNvPr id="10" name="TextBox 9"/>
          <p:cNvSpPr txBox="1"/>
          <p:nvPr/>
        </p:nvSpPr>
        <p:spPr>
          <a:xfrm>
            <a:off x="8046720" y="2926080"/>
            <a:ext cx="3291840" cy="457200"/>
          </a:xfrm>
          <a:prstGeom prst="rect">
            <a:avLst/>
          </a:prstGeom>
          <a:noFill/>
        </p:spPr>
        <p:txBody>
          <a:bodyPr wrap="square">
            <a:spAutoFit/>
          </a:bodyPr>
          <a:lstStyle/>
          <a:p>
            <a:pPr algn="ctr">
              <a:defRPr sz="2200" b="1">
                <a:solidFill>
                  <a:srgbClr val="34D399"/>
                </a:solidFill>
                <a:latin typeface="Calibri"/>
              </a:defRPr>
            </a:pPr>
            <a:r>
              <a:t>Generation</a:t>
            </a:r>
          </a:p>
        </p:txBody>
      </p:sp>
      <p:sp>
        <p:nvSpPr>
          <p:cNvPr id="11" name="TextBox 10"/>
          <p:cNvSpPr txBox="1"/>
          <p:nvPr/>
        </p:nvSpPr>
        <p:spPr>
          <a:xfrm>
            <a:off x="8046720" y="3383280"/>
            <a:ext cx="3291840" cy="914400"/>
          </a:xfrm>
          <a:prstGeom prst="rect">
            <a:avLst/>
          </a:prstGeom>
          <a:noFill/>
        </p:spPr>
        <p:txBody>
          <a:bodyPr wrap="square">
            <a:spAutoFit/>
          </a:bodyPr>
          <a:lstStyle/>
          <a:p>
            <a:pPr algn="ctr">
              <a:defRPr sz="1400" b="0">
                <a:solidFill>
                  <a:srgbClr val="6B7280"/>
                </a:solidFill>
                <a:latin typeface="Calibri"/>
              </a:defRPr>
            </a:pPr>
            <a:r>
              <a:t>The LLM reads the context and</a:t>
            </a:r>
            <a:br/>
            <a:r>
              <a:t>generates a grounded answer</a:t>
            </a:r>
          </a:p>
        </p:txBody>
      </p:sp>
      <p:sp>
        <p:nvSpPr>
          <p:cNvPr id="12" name="TextBox 11"/>
          <p:cNvSpPr txBox="1"/>
          <p:nvPr/>
        </p:nvSpPr>
        <p:spPr>
          <a:xfrm>
            <a:off x="3840480" y="1920240"/>
            <a:ext cx="731520" cy="731520"/>
          </a:xfrm>
          <a:prstGeom prst="rect">
            <a:avLst/>
          </a:prstGeom>
          <a:noFill/>
        </p:spPr>
        <p:txBody>
          <a:bodyPr wrap="square">
            <a:spAutoFit/>
          </a:bodyPr>
          <a:lstStyle/>
          <a:p>
            <a:pPr algn="ctr">
              <a:defRPr sz="3600" b="0">
                <a:solidFill>
                  <a:srgbClr val="6B7280"/>
                </a:solidFill>
                <a:latin typeface="Calibri"/>
              </a:defRPr>
            </a:pPr>
            <a:r>
              <a:t>→</a:t>
            </a:r>
          </a:p>
        </p:txBody>
      </p:sp>
      <p:sp>
        <p:nvSpPr>
          <p:cNvPr id="13" name="TextBox 12"/>
          <p:cNvSpPr txBox="1"/>
          <p:nvPr/>
        </p:nvSpPr>
        <p:spPr>
          <a:xfrm>
            <a:off x="7498079" y="1920240"/>
            <a:ext cx="731520" cy="731520"/>
          </a:xfrm>
          <a:prstGeom prst="rect">
            <a:avLst/>
          </a:prstGeom>
          <a:noFill/>
        </p:spPr>
        <p:txBody>
          <a:bodyPr wrap="square">
            <a:spAutoFit/>
          </a:bodyPr>
          <a:lstStyle/>
          <a:p>
            <a:pPr algn="ctr">
              <a:defRPr sz="3600" b="0">
                <a:solidFill>
                  <a:srgbClr val="6B7280"/>
                </a:solidFill>
                <a:latin typeface="Calibri"/>
              </a:defRPr>
            </a:pPr>
            <a:r>
              <a:t>→</a:t>
            </a:r>
          </a:p>
        </p:txBody>
      </p:sp>
      <p:sp>
        <p:nvSpPr>
          <p:cNvPr id="14" name="Rounded Rectangle 13"/>
          <p:cNvSpPr/>
          <p:nvPr/>
        </p:nvSpPr>
        <p:spPr>
          <a:xfrm>
            <a:off x="731520" y="4754880"/>
            <a:ext cx="10725912" cy="137160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892040"/>
            <a:ext cx="10058400" cy="365760"/>
          </a:xfrm>
          <a:prstGeom prst="rect">
            <a:avLst/>
          </a:prstGeom>
          <a:noFill/>
        </p:spPr>
        <p:txBody>
          <a:bodyPr wrap="square">
            <a:spAutoFit/>
          </a:bodyPr>
          <a:lstStyle/>
          <a:p>
            <a:pPr algn="l">
              <a:defRPr sz="1600" b="1">
                <a:solidFill>
                  <a:srgbClr val="E2E4EA"/>
                </a:solidFill>
                <a:latin typeface="Calibri"/>
              </a:defRPr>
            </a:pPr>
            <a:r>
              <a:t>In simple terms:</a:t>
            </a:r>
          </a:p>
        </p:txBody>
      </p:sp>
      <p:sp>
        <p:nvSpPr>
          <p:cNvPr id="16" name="TextBox 15"/>
          <p:cNvSpPr txBox="1"/>
          <p:nvPr/>
        </p:nvSpPr>
        <p:spPr>
          <a:xfrm>
            <a:off x="1097280" y="5257800"/>
            <a:ext cx="10058400" cy="731520"/>
          </a:xfrm>
          <a:prstGeom prst="rect">
            <a:avLst/>
          </a:prstGeom>
          <a:noFill/>
        </p:spPr>
        <p:txBody>
          <a:bodyPr wrap="square">
            <a:spAutoFit/>
          </a:bodyPr>
          <a:lstStyle/>
          <a:p>
            <a:pPr algn="l">
              <a:defRPr sz="1400" b="0">
                <a:solidFill>
                  <a:srgbClr val="6B7280"/>
                </a:solidFill>
                <a:latin typeface="Calibri"/>
              </a:defRPr>
            </a:pPr>
            <a:r>
              <a:t>"Search 1 lakh chunks. Retrieve 3. Generate with 3."</a:t>
            </a:r>
            <a:br/>
            <a:r>
              <a:t>No matter how much data you have, the LLM only ever sees a tiny, highly-relevant handful of 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4572000" cy="640080"/>
          </a:xfrm>
          <a:prstGeom prst="rect">
            <a:avLst/>
          </a:prstGeom>
          <a:noFill/>
        </p:spPr>
        <p:txBody>
          <a:bodyPr wrap="square">
            <a:spAutoFit/>
          </a:bodyPr>
          <a:lstStyle/>
          <a:p>
            <a:pPr algn="l">
              <a:defRPr sz="3200" b="1">
                <a:solidFill>
                  <a:srgbClr val="E2E4EA"/>
                </a:solidFill>
                <a:latin typeface="Calibri"/>
              </a:defRPr>
            </a:pPr>
            <a:r>
              <a:t>Pipeline 1: Ingestion</a:t>
            </a:r>
          </a:p>
        </p:txBody>
      </p:sp>
      <p:sp>
        <p:nvSpPr>
          <p:cNvPr id="3" name="TextBox 2"/>
          <p:cNvSpPr txBox="1"/>
          <p:nvPr/>
        </p:nvSpPr>
        <p:spPr>
          <a:xfrm>
            <a:off x="731520" y="822960"/>
            <a:ext cx="4572000" cy="365760"/>
          </a:xfrm>
          <a:prstGeom prst="rect">
            <a:avLst/>
          </a:prstGeom>
          <a:noFill/>
        </p:spPr>
        <p:txBody>
          <a:bodyPr wrap="square">
            <a:spAutoFit/>
          </a:bodyPr>
          <a:lstStyle/>
          <a:p>
            <a:pPr algn="l">
              <a:defRPr sz="1400" b="0">
                <a:solidFill>
                  <a:srgbClr val="6B7280"/>
                </a:solidFill>
                <a:latin typeface="Calibri"/>
              </a:defRPr>
            </a:pPr>
            <a:r>
              <a:t>Preparing documents for search</a:t>
            </a:r>
          </a:p>
        </p:txBody>
      </p:sp>
      <p:sp>
        <p:nvSpPr>
          <p:cNvPr id="4" name="Rounded Rectangle 3"/>
          <p:cNvSpPr/>
          <p:nvPr/>
        </p:nvSpPr>
        <p:spPr>
          <a:xfrm>
            <a:off x="731520" y="1554480"/>
            <a:ext cx="5029200" cy="100584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737360"/>
            <a:ext cx="457200" cy="457200"/>
          </a:xfrm>
          <a:prstGeom prst="ellipse">
            <a:avLst/>
          </a:prstGeom>
          <a:solidFill>
            <a:srgbClr val="FD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1</a:t>
            </a:r>
          </a:p>
        </p:txBody>
      </p:sp>
      <p:sp>
        <p:nvSpPr>
          <p:cNvPr id="6" name="TextBox 5"/>
          <p:cNvSpPr txBox="1"/>
          <p:nvPr/>
        </p:nvSpPr>
        <p:spPr>
          <a:xfrm>
            <a:off x="1554480" y="1691640"/>
            <a:ext cx="4023360" cy="365760"/>
          </a:xfrm>
          <a:prstGeom prst="rect">
            <a:avLst/>
          </a:prstGeom>
          <a:noFill/>
        </p:spPr>
        <p:txBody>
          <a:bodyPr wrap="square">
            <a:spAutoFit/>
          </a:bodyPr>
          <a:lstStyle/>
          <a:p>
            <a:pPr algn="l">
              <a:defRPr sz="1600" b="1">
                <a:solidFill>
                  <a:srgbClr val="E2E4EA"/>
                </a:solidFill>
                <a:latin typeface="Calibri"/>
              </a:defRPr>
            </a:pPr>
            <a:r>
              <a:t>Chunking  (Python)</a:t>
            </a:r>
          </a:p>
        </p:txBody>
      </p:sp>
      <p:sp>
        <p:nvSpPr>
          <p:cNvPr id="7" name="TextBox 6"/>
          <p:cNvSpPr txBox="1"/>
          <p:nvPr/>
        </p:nvSpPr>
        <p:spPr>
          <a:xfrm>
            <a:off x="1554480" y="2011680"/>
            <a:ext cx="4023360" cy="457200"/>
          </a:xfrm>
          <a:prstGeom prst="rect">
            <a:avLst/>
          </a:prstGeom>
          <a:noFill/>
        </p:spPr>
        <p:txBody>
          <a:bodyPr wrap="square">
            <a:spAutoFit/>
          </a:bodyPr>
          <a:lstStyle/>
          <a:p>
            <a:pPr algn="l">
              <a:defRPr sz="1200" b="0">
                <a:solidFill>
                  <a:srgbClr val="6B7280"/>
                </a:solidFill>
                <a:latin typeface="Calibri"/>
              </a:defRPr>
            </a:pPr>
            <a:r>
              <a:t>Raw text is split into smaller pieces (sentences / paragraphs).</a:t>
            </a:r>
            <a:br/>
            <a:r>
              <a:t>Output: A list of short text strings.</a:t>
            </a:r>
          </a:p>
        </p:txBody>
      </p:sp>
      <p:sp>
        <p:nvSpPr>
          <p:cNvPr id="8" name="Rounded Rectangle 7"/>
          <p:cNvSpPr/>
          <p:nvPr/>
        </p:nvSpPr>
        <p:spPr>
          <a:xfrm>
            <a:off x="731520" y="2743200"/>
            <a:ext cx="5029200" cy="100584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20" y="2926080"/>
            <a:ext cx="457200" cy="457200"/>
          </a:xfrm>
          <a:prstGeom prst="ellipse">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2</a:t>
            </a:r>
          </a:p>
        </p:txBody>
      </p:sp>
      <p:sp>
        <p:nvSpPr>
          <p:cNvPr id="10" name="TextBox 9"/>
          <p:cNvSpPr txBox="1"/>
          <p:nvPr/>
        </p:nvSpPr>
        <p:spPr>
          <a:xfrm>
            <a:off x="1554480" y="2880360"/>
            <a:ext cx="4023360" cy="365760"/>
          </a:xfrm>
          <a:prstGeom prst="rect">
            <a:avLst/>
          </a:prstGeom>
          <a:noFill/>
        </p:spPr>
        <p:txBody>
          <a:bodyPr wrap="square">
            <a:spAutoFit/>
          </a:bodyPr>
          <a:lstStyle/>
          <a:p>
            <a:pPr algn="l">
              <a:defRPr sz="1600" b="1">
                <a:solidFill>
                  <a:srgbClr val="E2E4EA"/>
                </a:solidFill>
                <a:latin typeface="Calibri"/>
              </a:defRPr>
            </a:pPr>
            <a:r>
              <a:t>Embedding  (OpenAI API)</a:t>
            </a:r>
          </a:p>
        </p:txBody>
      </p:sp>
      <p:sp>
        <p:nvSpPr>
          <p:cNvPr id="11" name="TextBox 10"/>
          <p:cNvSpPr txBox="1"/>
          <p:nvPr/>
        </p:nvSpPr>
        <p:spPr>
          <a:xfrm>
            <a:off x="1554480" y="3200400"/>
            <a:ext cx="4023360" cy="457200"/>
          </a:xfrm>
          <a:prstGeom prst="rect">
            <a:avLst/>
          </a:prstGeom>
          <a:noFill/>
        </p:spPr>
        <p:txBody>
          <a:bodyPr wrap="square">
            <a:spAutoFit/>
          </a:bodyPr>
          <a:lstStyle/>
          <a:p>
            <a:pPr algn="l">
              <a:defRPr sz="1200" b="0">
                <a:solidFill>
                  <a:srgbClr val="6B7280"/>
                </a:solidFill>
                <a:latin typeface="Calibri"/>
              </a:defRPr>
            </a:pPr>
            <a:r>
              <a:t>Each chunk is sent to OpenAI's embedding model and converted</a:t>
            </a:r>
            <a:br/>
            <a:r>
              <a:t>into a mathematical vector of 1,536 floating-point numbers.</a:t>
            </a:r>
          </a:p>
        </p:txBody>
      </p:sp>
      <p:sp>
        <p:nvSpPr>
          <p:cNvPr id="12" name="Rounded Rectangle 11"/>
          <p:cNvSpPr/>
          <p:nvPr/>
        </p:nvSpPr>
        <p:spPr>
          <a:xfrm>
            <a:off x="731520" y="3931920"/>
            <a:ext cx="5029200" cy="100584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60120" y="4114800"/>
            <a:ext cx="457200" cy="45720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3</a:t>
            </a:r>
          </a:p>
        </p:txBody>
      </p:sp>
      <p:sp>
        <p:nvSpPr>
          <p:cNvPr id="14" name="TextBox 13"/>
          <p:cNvSpPr txBox="1"/>
          <p:nvPr/>
        </p:nvSpPr>
        <p:spPr>
          <a:xfrm>
            <a:off x="1554480" y="4069080"/>
            <a:ext cx="4023360" cy="365760"/>
          </a:xfrm>
          <a:prstGeom prst="rect">
            <a:avLst/>
          </a:prstGeom>
          <a:noFill/>
        </p:spPr>
        <p:txBody>
          <a:bodyPr wrap="square">
            <a:spAutoFit/>
          </a:bodyPr>
          <a:lstStyle/>
          <a:p>
            <a:pPr algn="l">
              <a:defRPr sz="1600" b="1">
                <a:solidFill>
                  <a:srgbClr val="E2E4EA"/>
                </a:solidFill>
                <a:latin typeface="Calibri"/>
              </a:defRPr>
            </a:pPr>
            <a:r>
              <a:t>Storing  (ChromaDB)</a:t>
            </a:r>
          </a:p>
        </p:txBody>
      </p:sp>
      <p:sp>
        <p:nvSpPr>
          <p:cNvPr id="15" name="TextBox 14"/>
          <p:cNvSpPr txBox="1"/>
          <p:nvPr/>
        </p:nvSpPr>
        <p:spPr>
          <a:xfrm>
            <a:off x="1554480" y="4389120"/>
            <a:ext cx="4023360" cy="457200"/>
          </a:xfrm>
          <a:prstGeom prst="rect">
            <a:avLst/>
          </a:prstGeom>
          <a:noFill/>
        </p:spPr>
        <p:txBody>
          <a:bodyPr wrap="square">
            <a:spAutoFit/>
          </a:bodyPr>
          <a:lstStyle/>
          <a:p>
            <a:pPr algn="l">
              <a:defRPr sz="1200" b="0">
                <a:solidFill>
                  <a:srgbClr val="6B7280"/>
                </a:solidFill>
                <a:latin typeface="Calibri"/>
              </a:defRPr>
            </a:pPr>
            <a:r>
              <a:t>The raw text + its math vector are saved side-by-side</a:t>
            </a:r>
            <a:br/>
            <a:r>
              <a:t>in the ChromaDB vector database.</a:t>
            </a:r>
          </a:p>
        </p:txBody>
      </p:sp>
      <p:sp>
        <p:nvSpPr>
          <p:cNvPr id="16" name="TextBox 15"/>
          <p:cNvSpPr txBox="1"/>
          <p:nvPr/>
        </p:nvSpPr>
        <p:spPr>
          <a:xfrm>
            <a:off x="6400800" y="1371600"/>
            <a:ext cx="4572000" cy="274320"/>
          </a:xfrm>
          <a:prstGeom prst="rect">
            <a:avLst/>
          </a:prstGeom>
          <a:noFill/>
        </p:spPr>
        <p:txBody>
          <a:bodyPr wrap="square">
            <a:spAutoFit/>
          </a:bodyPr>
          <a:lstStyle/>
          <a:p>
            <a:pPr algn="l">
              <a:defRPr sz="1100" b="1">
                <a:solidFill>
                  <a:srgbClr val="818CF8"/>
                </a:solidFill>
                <a:latin typeface="Calibri"/>
              </a:defRPr>
            </a:pPr>
            <a:r>
              <a:t>app.py — store_documents()</a:t>
            </a:r>
          </a:p>
        </p:txBody>
      </p:sp>
      <p:sp>
        <p:nvSpPr>
          <p:cNvPr id="17" name="Rounded Rectangle 16"/>
          <p:cNvSpPr/>
          <p:nvPr/>
        </p:nvSpPr>
        <p:spPr>
          <a:xfrm>
            <a:off x="6400800" y="1691640"/>
            <a:ext cx="5029200" cy="347472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77800" tIns="127000" bIns="127000" rtlCol="0" anchor="ctr"/>
          <a:lstStyle/>
          <a:p>
            <a:pPr algn="ctr">
              <a:spcAft>
                <a:spcPts val="200"/>
              </a:spcAft>
              <a:defRPr sz="1200">
                <a:solidFill>
                  <a:srgbClr val="74B9FF"/>
                </a:solidFill>
                <a:latin typeface="Consolas"/>
              </a:defRPr>
            </a:pPr>
            <a:r>
              <a:t>def store_documents(documents):</a:t>
            </a:r>
          </a:p>
          <a:p>
            <a:pPr>
              <a:spcAft>
                <a:spcPts val="200"/>
              </a:spcAft>
              <a:defRPr sz="1200">
                <a:solidFill>
                  <a:srgbClr val="E2E4EA"/>
                </a:solidFill>
                <a:latin typeface="Consolas"/>
              </a:defRPr>
            </a:pPr>
            <a:r>
              <a:t>    for i, doc in enumerate(documents):</a:t>
            </a:r>
          </a:p>
          <a:p>
            <a:pPr>
              <a:spcAft>
                <a:spcPts val="200"/>
              </a:spcAft>
              <a:defRPr sz="1200">
                <a:solidFill>
                  <a:srgbClr val="E2E4EA"/>
                </a:solidFill>
                <a:latin typeface="Consolas"/>
              </a:defRPr>
            </a:pPr>
            <a:r>
              <a:t>        doc_id = f"doc_{i}"</a:t>
            </a:r>
          </a:p>
          <a:p>
            <a:pPr>
              <a:spcAft>
                <a:spcPts val="200"/>
              </a:spcAft>
              <a:defRPr sz="1200">
                <a:solidFill>
                  <a:srgbClr val="6B7280"/>
                </a:solidFill>
                <a:latin typeface="Consolas"/>
              </a:defRPr>
            </a:pPr>
            <a:endParaRPr/>
          </a:p>
          <a:p>
            <a:pPr>
              <a:spcAft>
                <a:spcPts val="200"/>
              </a:spcAft>
              <a:defRPr sz="1200">
                <a:solidFill>
                  <a:srgbClr val="34D399"/>
                </a:solidFill>
                <a:latin typeface="Consolas"/>
              </a:defRPr>
            </a:pPr>
            <a:r>
              <a:t>        # Step 2: Embed — turn text into math</a:t>
            </a:r>
          </a:p>
          <a:p>
            <a:pPr>
              <a:spcAft>
                <a:spcPts val="200"/>
              </a:spcAft>
              <a:defRPr sz="1200">
                <a:solidFill>
                  <a:srgbClr val="FDCB6E"/>
                </a:solidFill>
                <a:latin typeface="Consolas"/>
              </a:defRPr>
            </a:pPr>
            <a:r>
              <a:t>        embedding = get_embedding(doc)</a:t>
            </a:r>
          </a:p>
          <a:p>
            <a:pPr>
              <a:spcAft>
                <a:spcPts val="200"/>
              </a:spcAft>
              <a:defRPr sz="1200">
                <a:solidFill>
                  <a:srgbClr val="6B7280"/>
                </a:solidFill>
                <a:latin typeface="Consolas"/>
              </a:defRPr>
            </a:pPr>
            <a:endParaRPr/>
          </a:p>
          <a:p>
            <a:pPr>
              <a:spcAft>
                <a:spcPts val="200"/>
              </a:spcAft>
              <a:defRPr sz="1200">
                <a:solidFill>
                  <a:srgbClr val="34D399"/>
                </a:solidFill>
                <a:latin typeface="Consolas"/>
              </a:defRPr>
            </a:pPr>
            <a:r>
              <a:t>        # Step 3: Store in ChromaDB</a:t>
            </a:r>
          </a:p>
          <a:p>
            <a:pPr>
              <a:spcAft>
                <a:spcPts val="200"/>
              </a:spcAft>
              <a:defRPr sz="1200">
                <a:solidFill>
                  <a:srgbClr val="E2E4EA"/>
                </a:solidFill>
                <a:latin typeface="Consolas"/>
              </a:defRPr>
            </a:pPr>
            <a:r>
              <a:t>        collection.add(</a:t>
            </a:r>
          </a:p>
          <a:p>
            <a:pPr>
              <a:spcAft>
                <a:spcPts val="200"/>
              </a:spcAft>
              <a:defRPr sz="1200">
                <a:solidFill>
                  <a:srgbClr val="E2E4EA"/>
                </a:solidFill>
                <a:latin typeface="Consolas"/>
              </a:defRPr>
            </a:pPr>
            <a:r>
              <a:t>            documents=[doc],</a:t>
            </a:r>
          </a:p>
          <a:p>
            <a:pPr>
              <a:spcAft>
                <a:spcPts val="200"/>
              </a:spcAft>
              <a:defRPr sz="1200">
                <a:solidFill>
                  <a:srgbClr val="FDCB6E"/>
                </a:solidFill>
                <a:latin typeface="Consolas"/>
              </a:defRPr>
            </a:pPr>
            <a:r>
              <a:t>            embeddings=[embedding],</a:t>
            </a:r>
          </a:p>
          <a:p>
            <a:pPr>
              <a:spcAft>
                <a:spcPts val="200"/>
              </a:spcAft>
              <a:defRPr sz="1200">
                <a:solidFill>
                  <a:srgbClr val="E2E4EA"/>
                </a:solidFill>
                <a:latin typeface="Consolas"/>
              </a:defRPr>
            </a:pPr>
            <a:r>
              <a:t>            ids=[doc_id]</a:t>
            </a:r>
          </a:p>
          <a:p>
            <a:pPr>
              <a:spcAft>
                <a:spcPts val="200"/>
              </a:spcAft>
              <a:defRPr sz="1200">
                <a:solidFill>
                  <a:srgbClr val="E2E4EA"/>
                </a:solidFill>
                <a:latin typeface="Consolas"/>
              </a:defRPr>
            </a:pPr>
            <a:r>
              <a:t>        )</a:t>
            </a:r>
          </a:p>
        </p:txBody>
      </p:sp>
      <p:sp>
        <p:nvSpPr>
          <p:cNvPr id="18" name="Rounded Rectangle 17"/>
          <p:cNvSpPr/>
          <p:nvPr/>
        </p:nvSpPr>
        <p:spPr>
          <a:xfrm>
            <a:off x="731520" y="5303520"/>
            <a:ext cx="10725912" cy="73152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349240"/>
            <a:ext cx="10515600" cy="640080"/>
          </a:xfrm>
          <a:prstGeom prst="rect">
            <a:avLst/>
          </a:prstGeom>
          <a:noFill/>
        </p:spPr>
        <p:txBody>
          <a:bodyPr wrap="square">
            <a:spAutoFit/>
          </a:bodyPr>
          <a:lstStyle/>
          <a:p>
            <a:pPr algn="ctr">
              <a:defRPr sz="1600" b="0">
                <a:solidFill>
                  <a:srgbClr val="E2E4EA"/>
                </a:solidFill>
                <a:latin typeface="Calibri"/>
              </a:defRPr>
            </a:pPr>
            <a:r>
              <a:t>📄 Raw Text  →  ✂️ Chunks  →  🧠 Vectors [0.02, -0.15, 0.08, ...]  →  💾 ChromaDB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4572000" cy="640080"/>
          </a:xfrm>
          <a:prstGeom prst="rect">
            <a:avLst/>
          </a:prstGeom>
          <a:noFill/>
        </p:spPr>
        <p:txBody>
          <a:bodyPr wrap="square">
            <a:spAutoFit/>
          </a:bodyPr>
          <a:lstStyle/>
          <a:p>
            <a:pPr algn="l">
              <a:defRPr sz="3200" b="1">
                <a:solidFill>
                  <a:srgbClr val="E2E4EA"/>
                </a:solidFill>
                <a:latin typeface="Calibri"/>
              </a:defRPr>
            </a:pPr>
            <a:r>
              <a:t>Pipeline 2: Query (RAG)</a:t>
            </a:r>
          </a:p>
        </p:txBody>
      </p:sp>
      <p:sp>
        <p:nvSpPr>
          <p:cNvPr id="3" name="TextBox 2"/>
          <p:cNvSpPr txBox="1"/>
          <p:nvPr/>
        </p:nvSpPr>
        <p:spPr>
          <a:xfrm>
            <a:off x="731520" y="822960"/>
            <a:ext cx="4572000" cy="365760"/>
          </a:xfrm>
          <a:prstGeom prst="rect">
            <a:avLst/>
          </a:prstGeom>
          <a:noFill/>
        </p:spPr>
        <p:txBody>
          <a:bodyPr wrap="square">
            <a:spAutoFit/>
          </a:bodyPr>
          <a:lstStyle/>
          <a:p>
            <a:pPr algn="l">
              <a:defRPr sz="1400" b="0">
                <a:solidFill>
                  <a:srgbClr val="6B7280"/>
                </a:solidFill>
                <a:latin typeface="Calibri"/>
              </a:defRPr>
            </a:pPr>
            <a:r>
              <a:t>Answering a user's question</a:t>
            </a:r>
          </a:p>
        </p:txBody>
      </p:sp>
      <p:sp>
        <p:nvSpPr>
          <p:cNvPr id="4" name="Rounded Rectangle 3"/>
          <p:cNvSpPr/>
          <p:nvPr/>
        </p:nvSpPr>
        <p:spPr>
          <a:xfrm>
            <a:off x="731520" y="1554480"/>
            <a:ext cx="5029200" cy="86868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737360"/>
            <a:ext cx="457200" cy="457200"/>
          </a:xfrm>
          <a:prstGeom prst="ellipse">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1</a:t>
            </a:r>
          </a:p>
        </p:txBody>
      </p:sp>
      <p:sp>
        <p:nvSpPr>
          <p:cNvPr id="6" name="TextBox 5"/>
          <p:cNvSpPr txBox="1"/>
          <p:nvPr/>
        </p:nvSpPr>
        <p:spPr>
          <a:xfrm>
            <a:off x="1554480" y="1691640"/>
            <a:ext cx="4023360" cy="365760"/>
          </a:xfrm>
          <a:prstGeom prst="rect">
            <a:avLst/>
          </a:prstGeom>
          <a:noFill/>
        </p:spPr>
        <p:txBody>
          <a:bodyPr wrap="square">
            <a:spAutoFit/>
          </a:bodyPr>
          <a:lstStyle/>
          <a:p>
            <a:pPr algn="l">
              <a:defRPr sz="1600" b="1">
                <a:solidFill>
                  <a:srgbClr val="E2E4EA"/>
                </a:solidFill>
                <a:latin typeface="Calibri"/>
              </a:defRPr>
            </a:pPr>
            <a:r>
              <a:t>Embed Query  (OpenAI)</a:t>
            </a:r>
          </a:p>
        </p:txBody>
      </p:sp>
      <p:sp>
        <p:nvSpPr>
          <p:cNvPr id="7" name="TextBox 6"/>
          <p:cNvSpPr txBox="1"/>
          <p:nvPr/>
        </p:nvSpPr>
        <p:spPr>
          <a:xfrm>
            <a:off x="1554480" y="2011680"/>
            <a:ext cx="4023360" cy="320040"/>
          </a:xfrm>
          <a:prstGeom prst="rect">
            <a:avLst/>
          </a:prstGeom>
          <a:noFill/>
        </p:spPr>
        <p:txBody>
          <a:bodyPr wrap="square">
            <a:spAutoFit/>
          </a:bodyPr>
          <a:lstStyle/>
          <a:p>
            <a:pPr algn="l">
              <a:defRPr sz="1200" b="0">
                <a:solidFill>
                  <a:srgbClr val="6B7280"/>
                </a:solidFill>
                <a:latin typeface="Calibri"/>
              </a:defRPr>
            </a:pPr>
            <a:r>
              <a:t>Convert the user's question into a math vector.</a:t>
            </a:r>
          </a:p>
        </p:txBody>
      </p:sp>
      <p:sp>
        <p:nvSpPr>
          <p:cNvPr id="8" name="Rounded Rectangle 7"/>
          <p:cNvSpPr/>
          <p:nvPr/>
        </p:nvSpPr>
        <p:spPr>
          <a:xfrm>
            <a:off x="731520" y="2606040"/>
            <a:ext cx="5029200" cy="86868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20" y="2788920"/>
            <a:ext cx="457200" cy="457200"/>
          </a:xfrm>
          <a:prstGeom prst="ellipse">
            <a:avLst/>
          </a:prstGeom>
          <a:solidFill>
            <a:srgbClr val="74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2</a:t>
            </a:r>
          </a:p>
        </p:txBody>
      </p:sp>
      <p:sp>
        <p:nvSpPr>
          <p:cNvPr id="10" name="TextBox 9"/>
          <p:cNvSpPr txBox="1"/>
          <p:nvPr/>
        </p:nvSpPr>
        <p:spPr>
          <a:xfrm>
            <a:off x="1554480" y="2743200"/>
            <a:ext cx="4023360" cy="365760"/>
          </a:xfrm>
          <a:prstGeom prst="rect">
            <a:avLst/>
          </a:prstGeom>
          <a:noFill/>
        </p:spPr>
        <p:txBody>
          <a:bodyPr wrap="square">
            <a:spAutoFit/>
          </a:bodyPr>
          <a:lstStyle/>
          <a:p>
            <a:pPr algn="l">
              <a:defRPr sz="1600" b="1">
                <a:solidFill>
                  <a:srgbClr val="E2E4EA"/>
                </a:solidFill>
                <a:latin typeface="Calibri"/>
              </a:defRPr>
            </a:pPr>
            <a:r>
              <a:t>Retrieve  (ChromaDB)  — the 'R'</a:t>
            </a:r>
          </a:p>
        </p:txBody>
      </p:sp>
      <p:sp>
        <p:nvSpPr>
          <p:cNvPr id="11" name="TextBox 10"/>
          <p:cNvSpPr txBox="1"/>
          <p:nvPr/>
        </p:nvSpPr>
        <p:spPr>
          <a:xfrm>
            <a:off x="1554480" y="3063240"/>
            <a:ext cx="4023360" cy="320040"/>
          </a:xfrm>
          <a:prstGeom prst="rect">
            <a:avLst/>
          </a:prstGeom>
          <a:noFill/>
        </p:spPr>
        <p:txBody>
          <a:bodyPr wrap="square">
            <a:spAutoFit/>
          </a:bodyPr>
          <a:lstStyle/>
          <a:p>
            <a:pPr algn="l">
              <a:defRPr sz="1200" b="0">
                <a:solidFill>
                  <a:srgbClr val="6B7280"/>
                </a:solidFill>
                <a:latin typeface="Calibri"/>
              </a:defRPr>
            </a:pPr>
            <a:r>
              <a:t>Search all stored vectors. Return Top 3 closest matches.</a:t>
            </a:r>
          </a:p>
        </p:txBody>
      </p:sp>
      <p:sp>
        <p:nvSpPr>
          <p:cNvPr id="12" name="Rounded Rectangle 11"/>
          <p:cNvSpPr/>
          <p:nvPr/>
        </p:nvSpPr>
        <p:spPr>
          <a:xfrm>
            <a:off x="731520" y="3657600"/>
            <a:ext cx="5029200" cy="86868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60120" y="3840480"/>
            <a:ext cx="457200" cy="457200"/>
          </a:xfrm>
          <a:prstGeom prst="ellipse">
            <a:avLst/>
          </a:prstGeom>
          <a:solidFill>
            <a:srgbClr val="FD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3</a:t>
            </a:r>
          </a:p>
        </p:txBody>
      </p:sp>
      <p:sp>
        <p:nvSpPr>
          <p:cNvPr id="14" name="TextBox 13"/>
          <p:cNvSpPr txBox="1"/>
          <p:nvPr/>
        </p:nvSpPr>
        <p:spPr>
          <a:xfrm>
            <a:off x="1554480" y="3794760"/>
            <a:ext cx="4023360" cy="365760"/>
          </a:xfrm>
          <a:prstGeom prst="rect">
            <a:avLst/>
          </a:prstGeom>
          <a:noFill/>
        </p:spPr>
        <p:txBody>
          <a:bodyPr wrap="square">
            <a:spAutoFit/>
          </a:bodyPr>
          <a:lstStyle/>
          <a:p>
            <a:pPr algn="l">
              <a:defRPr sz="1600" b="1">
                <a:solidFill>
                  <a:srgbClr val="E2E4EA"/>
                </a:solidFill>
                <a:latin typeface="Calibri"/>
              </a:defRPr>
            </a:pPr>
            <a:r>
              <a:t>Augment  — the 'A'</a:t>
            </a:r>
          </a:p>
        </p:txBody>
      </p:sp>
      <p:sp>
        <p:nvSpPr>
          <p:cNvPr id="15" name="TextBox 14"/>
          <p:cNvSpPr txBox="1"/>
          <p:nvPr/>
        </p:nvSpPr>
        <p:spPr>
          <a:xfrm>
            <a:off x="1554480" y="4114800"/>
            <a:ext cx="4023360" cy="320040"/>
          </a:xfrm>
          <a:prstGeom prst="rect">
            <a:avLst/>
          </a:prstGeom>
          <a:noFill/>
        </p:spPr>
        <p:txBody>
          <a:bodyPr wrap="square">
            <a:spAutoFit/>
          </a:bodyPr>
          <a:lstStyle/>
          <a:p>
            <a:pPr algn="l">
              <a:defRPr sz="1200" b="0">
                <a:solidFill>
                  <a:srgbClr val="6B7280"/>
                </a:solidFill>
                <a:latin typeface="Calibri"/>
              </a:defRPr>
            </a:pPr>
            <a:r>
              <a:t>Glue those 3 chunks into the prompt as 'Context'.</a:t>
            </a:r>
          </a:p>
        </p:txBody>
      </p:sp>
      <p:sp>
        <p:nvSpPr>
          <p:cNvPr id="16" name="Rounded Rectangle 15"/>
          <p:cNvSpPr/>
          <p:nvPr/>
        </p:nvSpPr>
        <p:spPr>
          <a:xfrm>
            <a:off x="731520" y="4709160"/>
            <a:ext cx="5029200" cy="86868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0120" y="4892040"/>
            <a:ext cx="457200" cy="45720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latin typeface="Calibri"/>
              </a:defRPr>
            </a:pPr>
            <a:r>
              <a:t>4</a:t>
            </a:r>
          </a:p>
        </p:txBody>
      </p:sp>
      <p:sp>
        <p:nvSpPr>
          <p:cNvPr id="18" name="TextBox 17"/>
          <p:cNvSpPr txBox="1"/>
          <p:nvPr/>
        </p:nvSpPr>
        <p:spPr>
          <a:xfrm>
            <a:off x="1554480" y="4846320"/>
            <a:ext cx="4023360" cy="365760"/>
          </a:xfrm>
          <a:prstGeom prst="rect">
            <a:avLst/>
          </a:prstGeom>
          <a:noFill/>
        </p:spPr>
        <p:txBody>
          <a:bodyPr wrap="square">
            <a:spAutoFit/>
          </a:bodyPr>
          <a:lstStyle/>
          <a:p>
            <a:pPr algn="l">
              <a:defRPr sz="1600" b="1">
                <a:solidFill>
                  <a:srgbClr val="E2E4EA"/>
                </a:solidFill>
                <a:latin typeface="Calibri"/>
              </a:defRPr>
            </a:pPr>
            <a:r>
              <a:t>Generate  (OpenAI Chat)  — the 'G'</a:t>
            </a:r>
          </a:p>
        </p:txBody>
      </p:sp>
      <p:sp>
        <p:nvSpPr>
          <p:cNvPr id="19" name="TextBox 18"/>
          <p:cNvSpPr txBox="1"/>
          <p:nvPr/>
        </p:nvSpPr>
        <p:spPr>
          <a:xfrm>
            <a:off x="1554480" y="5166360"/>
            <a:ext cx="4023360" cy="320040"/>
          </a:xfrm>
          <a:prstGeom prst="rect">
            <a:avLst/>
          </a:prstGeom>
          <a:noFill/>
        </p:spPr>
        <p:txBody>
          <a:bodyPr wrap="square">
            <a:spAutoFit/>
          </a:bodyPr>
          <a:lstStyle/>
          <a:p>
            <a:pPr algn="l">
              <a:defRPr sz="1200" b="0">
                <a:solidFill>
                  <a:srgbClr val="6B7280"/>
                </a:solidFill>
                <a:latin typeface="Calibri"/>
              </a:defRPr>
            </a:pPr>
            <a:r>
              <a:t>LLM reads context + question → writes final answer.</a:t>
            </a:r>
          </a:p>
        </p:txBody>
      </p:sp>
      <p:sp>
        <p:nvSpPr>
          <p:cNvPr id="20" name="TextBox 19"/>
          <p:cNvSpPr txBox="1"/>
          <p:nvPr/>
        </p:nvSpPr>
        <p:spPr>
          <a:xfrm>
            <a:off x="6400800" y="1371600"/>
            <a:ext cx="4572000" cy="274320"/>
          </a:xfrm>
          <a:prstGeom prst="rect">
            <a:avLst/>
          </a:prstGeom>
          <a:noFill/>
        </p:spPr>
        <p:txBody>
          <a:bodyPr wrap="square">
            <a:spAutoFit/>
          </a:bodyPr>
          <a:lstStyle/>
          <a:p>
            <a:pPr algn="l">
              <a:defRPr sz="1100" b="1">
                <a:solidFill>
                  <a:srgbClr val="818CF8"/>
                </a:solidFill>
                <a:latin typeface="Calibri"/>
              </a:defRPr>
            </a:pPr>
            <a:r>
              <a:t>app.py — search + generate</a:t>
            </a:r>
          </a:p>
        </p:txBody>
      </p:sp>
      <p:sp>
        <p:nvSpPr>
          <p:cNvPr id="21" name="Rounded Rectangle 20"/>
          <p:cNvSpPr/>
          <p:nvPr/>
        </p:nvSpPr>
        <p:spPr>
          <a:xfrm>
            <a:off x="6400800" y="1691640"/>
            <a:ext cx="5029200" cy="411480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77800" tIns="127000" bIns="127000" rtlCol="0" anchor="ctr"/>
          <a:lstStyle/>
          <a:p>
            <a:pPr algn="ctr">
              <a:spcAft>
                <a:spcPts val="200"/>
              </a:spcAft>
              <a:defRPr sz="1200">
                <a:solidFill>
                  <a:srgbClr val="34D399"/>
                </a:solidFill>
                <a:latin typeface="Consolas"/>
              </a:defRPr>
            </a:pPr>
            <a:r>
              <a:t># Step 1: Embed the question</a:t>
            </a:r>
          </a:p>
          <a:p>
            <a:pPr>
              <a:spcAft>
                <a:spcPts val="200"/>
              </a:spcAft>
              <a:defRPr sz="1200">
                <a:solidFill>
                  <a:srgbClr val="FDCB6E"/>
                </a:solidFill>
                <a:latin typeface="Consolas"/>
              </a:defRPr>
            </a:pPr>
            <a:r>
              <a:t>query_embedding = get_embedding(query)</a:t>
            </a:r>
          </a:p>
          <a:p>
            <a:pPr>
              <a:spcAft>
                <a:spcPts val="200"/>
              </a:spcAft>
              <a:defRPr sz="1200">
                <a:solidFill>
                  <a:srgbClr val="6B7280"/>
                </a:solidFill>
                <a:latin typeface="Consolas"/>
              </a:defRPr>
            </a:pPr>
            <a:endParaRPr/>
          </a:p>
          <a:p>
            <a:pPr>
              <a:spcAft>
                <a:spcPts val="200"/>
              </a:spcAft>
              <a:defRPr sz="1200">
                <a:solidFill>
                  <a:srgbClr val="34D399"/>
                </a:solidFill>
                <a:latin typeface="Consolas"/>
              </a:defRPr>
            </a:pPr>
            <a:r>
              <a:t># Step 2: Search ChromaDB (Retrieve)</a:t>
            </a:r>
          </a:p>
          <a:p>
            <a:pPr>
              <a:spcAft>
                <a:spcPts val="200"/>
              </a:spcAft>
              <a:defRPr sz="1200">
                <a:solidFill>
                  <a:srgbClr val="E2E4EA"/>
                </a:solidFill>
                <a:latin typeface="Consolas"/>
              </a:defRPr>
            </a:pPr>
            <a:r>
              <a:t>results = collection.query(</a:t>
            </a:r>
          </a:p>
          <a:p>
            <a:pPr>
              <a:spcAft>
                <a:spcPts val="200"/>
              </a:spcAft>
              <a:defRPr sz="1200">
                <a:solidFill>
                  <a:srgbClr val="E2E4EA"/>
                </a:solidFill>
                <a:latin typeface="Consolas"/>
              </a:defRPr>
            </a:pPr>
            <a:r>
              <a:t>    query_embeddings=[query_embedding],</a:t>
            </a:r>
          </a:p>
          <a:p>
            <a:pPr>
              <a:spcAft>
                <a:spcPts val="200"/>
              </a:spcAft>
              <a:defRPr sz="1200">
                <a:solidFill>
                  <a:srgbClr val="FDCB6E"/>
                </a:solidFill>
                <a:latin typeface="Consolas"/>
              </a:defRPr>
            </a:pPr>
            <a:r>
              <a:t>    n_results=3  # &lt;-- Only Top 3!</a:t>
            </a:r>
          </a:p>
          <a:p>
            <a:pPr>
              <a:spcAft>
                <a:spcPts val="200"/>
              </a:spcAft>
              <a:defRPr sz="1200">
                <a:solidFill>
                  <a:srgbClr val="E2E4EA"/>
                </a:solidFill>
                <a:latin typeface="Consolas"/>
              </a:defRPr>
            </a:pPr>
            <a:r>
              <a:t>)</a:t>
            </a:r>
          </a:p>
          <a:p>
            <a:pPr>
              <a:spcAft>
                <a:spcPts val="200"/>
              </a:spcAft>
              <a:defRPr sz="1200">
                <a:solidFill>
                  <a:srgbClr val="6B7280"/>
                </a:solidFill>
                <a:latin typeface="Consolas"/>
              </a:defRPr>
            </a:pPr>
            <a:endParaRPr/>
          </a:p>
          <a:p>
            <a:pPr>
              <a:spcAft>
                <a:spcPts val="200"/>
              </a:spcAft>
              <a:defRPr sz="1200">
                <a:solidFill>
                  <a:srgbClr val="34D399"/>
                </a:solidFill>
                <a:latin typeface="Consolas"/>
              </a:defRPr>
            </a:pPr>
            <a:r>
              <a:t># Step 3: Augment the prompt</a:t>
            </a:r>
          </a:p>
          <a:p>
            <a:pPr>
              <a:spcAft>
                <a:spcPts val="200"/>
              </a:spcAft>
              <a:defRPr sz="1200">
                <a:solidFill>
                  <a:srgbClr val="E2E4EA"/>
                </a:solidFill>
                <a:latin typeface="Consolas"/>
              </a:defRPr>
            </a:pPr>
            <a:r>
              <a:t>context = "\n".join(retrieved_docs)</a:t>
            </a:r>
          </a:p>
          <a:p>
            <a:pPr>
              <a:spcAft>
                <a:spcPts val="200"/>
              </a:spcAft>
              <a:defRPr sz="1200">
                <a:solidFill>
                  <a:srgbClr val="FDCB6E"/>
                </a:solidFill>
                <a:latin typeface="Consolas"/>
              </a:defRPr>
            </a:pPr>
            <a:r>
              <a:t>prompt = f"Context:\n{context}\n\nQ: {query}"</a:t>
            </a:r>
          </a:p>
          <a:p>
            <a:pPr>
              <a:spcAft>
                <a:spcPts val="200"/>
              </a:spcAft>
              <a:defRPr sz="1200">
                <a:solidFill>
                  <a:srgbClr val="6B7280"/>
                </a:solidFill>
                <a:latin typeface="Consolas"/>
              </a:defRPr>
            </a:pPr>
            <a:endParaRPr/>
          </a:p>
          <a:p>
            <a:pPr>
              <a:spcAft>
                <a:spcPts val="200"/>
              </a:spcAft>
              <a:defRPr sz="1200">
                <a:solidFill>
                  <a:srgbClr val="34D399"/>
                </a:solidFill>
                <a:latin typeface="Consolas"/>
              </a:defRPr>
            </a:pPr>
            <a:r>
              <a:t># Step 4: Generate answer (LLM)</a:t>
            </a:r>
          </a:p>
          <a:p>
            <a:pPr>
              <a:spcAft>
                <a:spcPts val="200"/>
              </a:spcAft>
              <a:defRPr sz="1200">
                <a:solidFill>
                  <a:srgbClr val="E2E4EA"/>
                </a:solidFill>
                <a:latin typeface="Consolas"/>
              </a:defRPr>
            </a:pPr>
            <a:r>
              <a:t>response = openai.chat.completions.create(</a:t>
            </a:r>
          </a:p>
          <a:p>
            <a:pPr>
              <a:spcAft>
                <a:spcPts val="200"/>
              </a:spcAft>
              <a:defRPr sz="1200">
                <a:solidFill>
                  <a:srgbClr val="E2E4EA"/>
                </a:solidFill>
                <a:latin typeface="Consolas"/>
              </a:defRPr>
            </a:pPr>
            <a:r>
              <a:t>    model="gpt-4o-mini",</a:t>
            </a:r>
          </a:p>
          <a:p>
            <a:pPr>
              <a:spcAft>
                <a:spcPts val="200"/>
              </a:spcAft>
              <a:defRPr sz="1200">
                <a:solidFill>
                  <a:srgbClr val="E2E4EA"/>
                </a:solidFill>
                <a:latin typeface="Consolas"/>
              </a:defRPr>
            </a:pPr>
            <a:r>
              <a:t>    messages=[{"role": "user",</a:t>
            </a:r>
          </a:p>
          <a:p>
            <a:pPr>
              <a:spcAft>
                <a:spcPts val="200"/>
              </a:spcAft>
              <a:defRPr sz="1200">
                <a:solidFill>
                  <a:srgbClr val="E2E4EA"/>
                </a:solidFill>
                <a:latin typeface="Consolas"/>
              </a:defRPr>
            </a:pPr>
            <a:r>
              <a:t>               "content": prompt}]</a:t>
            </a:r>
          </a:p>
          <a:p>
            <a:pPr>
              <a:spcAft>
                <a:spcPts val="200"/>
              </a:spcAft>
              <a:defRPr sz="1200">
                <a:solidFill>
                  <a:srgbClr val="E2E4EA"/>
                </a:solidFill>
                <a:latin typeface="Consolas"/>
              </a:defRPr>
            </a:pPr>
            <a: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200" b="1">
                <a:solidFill>
                  <a:srgbClr val="E2E4EA"/>
                </a:solidFill>
                <a:latin typeface="Calibri"/>
              </a:defRPr>
            </a:pPr>
            <a:r>
              <a:t>How Do Embeddings Work?</a:t>
            </a:r>
          </a:p>
        </p:txBody>
      </p:sp>
      <p:sp>
        <p:nvSpPr>
          <p:cNvPr id="3" name="TextBox 2"/>
          <p:cNvSpPr txBox="1"/>
          <p:nvPr/>
        </p:nvSpPr>
        <p:spPr>
          <a:xfrm>
            <a:off x="731520" y="822960"/>
            <a:ext cx="10058400" cy="365760"/>
          </a:xfrm>
          <a:prstGeom prst="rect">
            <a:avLst/>
          </a:prstGeom>
          <a:noFill/>
        </p:spPr>
        <p:txBody>
          <a:bodyPr wrap="square">
            <a:spAutoFit/>
          </a:bodyPr>
          <a:lstStyle/>
          <a:p>
            <a:pPr algn="l">
              <a:defRPr sz="1400" b="0">
                <a:solidFill>
                  <a:srgbClr val="6B7280"/>
                </a:solidFill>
                <a:latin typeface="Calibri"/>
              </a:defRPr>
            </a:pPr>
            <a:r>
              <a:t>Turning human language into math that a computer can search</a:t>
            </a:r>
          </a:p>
        </p:txBody>
      </p:sp>
      <p:sp>
        <p:nvSpPr>
          <p:cNvPr id="4" name="TextBox 3"/>
          <p:cNvSpPr txBox="1"/>
          <p:nvPr/>
        </p:nvSpPr>
        <p:spPr>
          <a:xfrm>
            <a:off x="731520" y="1554480"/>
            <a:ext cx="5029200" cy="4114800"/>
          </a:xfrm>
          <a:prstGeom prst="rect">
            <a:avLst/>
          </a:prstGeom>
          <a:noFill/>
        </p:spPr>
        <p:txBody>
          <a:bodyPr wrap="square">
            <a:spAutoFit/>
          </a:bodyPr>
          <a:lstStyle/>
          <a:p>
            <a:pPr>
              <a:spcAft>
                <a:spcPts val="600"/>
              </a:spcAft>
              <a:defRPr sz="1800" b="1">
                <a:solidFill>
                  <a:srgbClr val="818CF8"/>
                </a:solidFill>
                <a:latin typeface="Calibri"/>
              </a:defRPr>
            </a:pPr>
            <a:r>
              <a:t>What is an Embedding?</a:t>
            </a:r>
          </a:p>
          <a:p>
            <a:pPr>
              <a:spcAft>
                <a:spcPts val="600"/>
              </a:spcAft>
              <a:defRPr sz="1400" b="0">
                <a:solidFill>
                  <a:srgbClr val="E2E4EA"/>
                </a:solidFill>
                <a:latin typeface="Calibri"/>
              </a:defRPr>
            </a:pPr>
            <a:r>
              <a:t>A dense array of 1,536 floating-point numbers</a:t>
            </a:r>
          </a:p>
          <a:p>
            <a:pPr>
              <a:spcAft>
                <a:spcPts val="600"/>
              </a:spcAft>
              <a:defRPr sz="1300" b="0">
                <a:solidFill>
                  <a:srgbClr val="6B7280"/>
                </a:solidFill>
                <a:latin typeface="Calibri"/>
              </a:defRPr>
            </a:pPr>
            <a:r>
              <a:t>Generated by OpenAI's text-embedding-3-small model</a:t>
            </a:r>
          </a:p>
          <a:p>
            <a:pPr>
              <a:spcAft>
                <a:spcPts val="600"/>
              </a:spcAft>
              <a:defRPr sz="800" b="0">
                <a:solidFill>
                  <a:srgbClr val="6B7280"/>
                </a:solidFill>
                <a:latin typeface="Calibri"/>
              </a:defRPr>
            </a:pPr>
            <a:endParaRPr/>
          </a:p>
          <a:p>
            <a:pPr>
              <a:spcAft>
                <a:spcPts val="600"/>
              </a:spcAft>
              <a:defRPr sz="1800" b="1">
                <a:solidFill>
                  <a:srgbClr val="818CF8"/>
                </a:solidFill>
                <a:latin typeface="Calibri"/>
              </a:defRPr>
            </a:pPr>
            <a:r>
              <a:t>Why does it work?</a:t>
            </a:r>
          </a:p>
          <a:p>
            <a:pPr>
              <a:spcAft>
                <a:spcPts val="600"/>
              </a:spcAft>
              <a:defRPr sz="1400" b="0">
                <a:solidFill>
                  <a:srgbClr val="E2E4EA"/>
                </a:solidFill>
                <a:latin typeface="Calibri"/>
              </a:defRPr>
            </a:pPr>
            <a:r>
              <a:t>Sentences with similar meanings produce</a:t>
            </a:r>
          </a:p>
          <a:p>
            <a:pPr>
              <a:spcAft>
                <a:spcPts val="600"/>
              </a:spcAft>
              <a:defRPr sz="1400" b="0">
                <a:solidFill>
                  <a:srgbClr val="E2E4EA"/>
                </a:solidFill>
                <a:latin typeface="Calibri"/>
              </a:defRPr>
            </a:pPr>
            <a:r>
              <a:t>similar vectors (close together in 1536-D space)</a:t>
            </a:r>
          </a:p>
          <a:p>
            <a:pPr>
              <a:spcAft>
                <a:spcPts val="600"/>
              </a:spcAft>
              <a:defRPr sz="800" b="0">
                <a:solidFill>
                  <a:srgbClr val="6B7280"/>
                </a:solidFill>
                <a:latin typeface="Calibri"/>
              </a:defRPr>
            </a:pPr>
            <a:endParaRPr/>
          </a:p>
          <a:p>
            <a:pPr>
              <a:spcAft>
                <a:spcPts val="600"/>
              </a:spcAft>
              <a:defRPr sz="1800" b="1">
                <a:solidFill>
                  <a:srgbClr val="818CF8"/>
                </a:solidFill>
                <a:latin typeface="Calibri"/>
              </a:defRPr>
            </a:pPr>
            <a:r>
              <a:t>Example:</a:t>
            </a:r>
          </a:p>
          <a:p>
            <a:pPr>
              <a:spcAft>
                <a:spcPts val="600"/>
              </a:spcAft>
              <a:defRPr sz="1400" b="0">
                <a:solidFill>
                  <a:srgbClr val="34D399"/>
                </a:solidFill>
                <a:latin typeface="Calibri"/>
              </a:defRPr>
            </a:pPr>
            <a:r>
              <a:t>"Employees get 20 paid leaves"</a:t>
            </a:r>
          </a:p>
          <a:p>
            <a:pPr>
              <a:spcAft>
                <a:spcPts val="600"/>
              </a:spcAft>
              <a:defRPr sz="1300" b="0">
                <a:solidFill>
                  <a:srgbClr val="6B7280"/>
                </a:solidFill>
                <a:latin typeface="Calibri"/>
              </a:defRPr>
            </a:pPr>
            <a:r>
              <a:t>  → [0.021, -0.153, 0.087, 0.042, ...]</a:t>
            </a:r>
          </a:p>
          <a:p>
            <a:pPr>
              <a:spcAft>
                <a:spcPts val="600"/>
              </a:spcAft>
              <a:defRPr sz="1400" b="0">
                <a:solidFill>
                  <a:srgbClr val="34D399"/>
                </a:solidFill>
                <a:latin typeface="Calibri"/>
              </a:defRPr>
            </a:pPr>
            <a:r>
              <a:t>"How many holidays do staff receive?"</a:t>
            </a:r>
          </a:p>
          <a:p>
            <a:pPr>
              <a:spcAft>
                <a:spcPts val="600"/>
              </a:spcAft>
              <a:defRPr sz="1300" b="0">
                <a:solidFill>
                  <a:srgbClr val="6B7280"/>
                </a:solidFill>
                <a:latin typeface="Calibri"/>
              </a:defRPr>
            </a:pPr>
            <a:r>
              <a:t>  → [0.019, -0.148, 0.091, 0.039, ...]</a:t>
            </a:r>
          </a:p>
          <a:p>
            <a:pPr>
              <a:spcAft>
                <a:spcPts val="600"/>
              </a:spcAft>
              <a:defRPr sz="1300" b="1">
                <a:solidFill>
                  <a:srgbClr val="FDCB6E"/>
                </a:solidFill>
                <a:latin typeface="Calibri"/>
              </a:defRPr>
            </a:pPr>
            <a:r>
              <a:t>Notice how similar the numbers are! ☝️</a:t>
            </a:r>
          </a:p>
        </p:txBody>
      </p:sp>
      <p:sp>
        <p:nvSpPr>
          <p:cNvPr id="5" name="TextBox 4"/>
          <p:cNvSpPr txBox="1"/>
          <p:nvPr/>
        </p:nvSpPr>
        <p:spPr>
          <a:xfrm>
            <a:off x="6400800" y="1371600"/>
            <a:ext cx="4572000" cy="274320"/>
          </a:xfrm>
          <a:prstGeom prst="rect">
            <a:avLst/>
          </a:prstGeom>
          <a:noFill/>
        </p:spPr>
        <p:txBody>
          <a:bodyPr wrap="square">
            <a:spAutoFit/>
          </a:bodyPr>
          <a:lstStyle/>
          <a:p>
            <a:pPr algn="l">
              <a:defRPr sz="1100" b="1">
                <a:solidFill>
                  <a:srgbClr val="818CF8"/>
                </a:solidFill>
                <a:latin typeface="Calibri"/>
              </a:defRPr>
            </a:pPr>
            <a:r>
              <a:t>app.py — get_embedding()</a:t>
            </a:r>
          </a:p>
        </p:txBody>
      </p:sp>
      <p:sp>
        <p:nvSpPr>
          <p:cNvPr id="6" name="Rounded Rectangle 5"/>
          <p:cNvSpPr/>
          <p:nvPr/>
        </p:nvSpPr>
        <p:spPr>
          <a:xfrm>
            <a:off x="6400800" y="1691640"/>
            <a:ext cx="5029200" cy="256032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77800" tIns="127000" bIns="127000" rtlCol="0" anchor="ctr"/>
          <a:lstStyle/>
          <a:p>
            <a:pPr algn="ctr">
              <a:spcAft>
                <a:spcPts val="200"/>
              </a:spcAft>
              <a:defRPr sz="1200">
                <a:solidFill>
                  <a:srgbClr val="74B9FF"/>
                </a:solidFill>
                <a:latin typeface="Consolas"/>
              </a:defRPr>
            </a:pPr>
            <a:r>
              <a:t>def get_embedding(text):</a:t>
            </a:r>
          </a:p>
          <a:p>
            <a:pPr>
              <a:spcAft>
                <a:spcPts val="200"/>
              </a:spcAft>
              <a:defRPr sz="1200">
                <a:solidFill>
                  <a:srgbClr val="E2E4EA"/>
                </a:solidFill>
                <a:latin typeface="Consolas"/>
              </a:defRPr>
            </a:pPr>
            <a:r>
              <a:t>    response = client.embeddings.create(</a:t>
            </a:r>
          </a:p>
          <a:p>
            <a:pPr>
              <a:spcAft>
                <a:spcPts val="200"/>
              </a:spcAft>
              <a:defRPr sz="1200">
                <a:solidFill>
                  <a:srgbClr val="FDCB6E"/>
                </a:solidFill>
                <a:latin typeface="Consolas"/>
              </a:defRPr>
            </a:pPr>
            <a:r>
              <a:t>        model="text-embedding-3-small",</a:t>
            </a:r>
          </a:p>
          <a:p>
            <a:pPr>
              <a:spcAft>
                <a:spcPts val="200"/>
              </a:spcAft>
              <a:defRPr sz="1200">
                <a:solidFill>
                  <a:srgbClr val="E2E4EA"/>
                </a:solidFill>
                <a:latin typeface="Consolas"/>
              </a:defRPr>
            </a:pPr>
            <a:r>
              <a:t>        input=text</a:t>
            </a:r>
          </a:p>
          <a:p>
            <a:pPr>
              <a:spcAft>
                <a:spcPts val="200"/>
              </a:spcAft>
              <a:defRPr sz="1200">
                <a:solidFill>
                  <a:srgbClr val="E2E4EA"/>
                </a:solidFill>
                <a:latin typeface="Consolas"/>
              </a:defRPr>
            </a:pPr>
            <a:r>
              <a:t>    )</a:t>
            </a:r>
          </a:p>
          <a:p>
            <a:pPr>
              <a:spcAft>
                <a:spcPts val="200"/>
              </a:spcAft>
              <a:defRPr sz="1200">
                <a:solidFill>
                  <a:srgbClr val="6B7280"/>
                </a:solidFill>
                <a:latin typeface="Consolas"/>
              </a:defRPr>
            </a:pPr>
            <a:endParaRPr/>
          </a:p>
          <a:p>
            <a:pPr>
              <a:spcAft>
                <a:spcPts val="200"/>
              </a:spcAft>
              <a:defRPr sz="1200">
                <a:solidFill>
                  <a:srgbClr val="E2E4EA"/>
                </a:solidFill>
                <a:latin typeface="Consolas"/>
              </a:defRPr>
            </a:pPr>
            <a:r>
              <a:t>    embedding = response.data[0].embedding</a:t>
            </a:r>
          </a:p>
          <a:p>
            <a:pPr>
              <a:spcAft>
                <a:spcPts val="200"/>
              </a:spcAft>
              <a:defRPr sz="1200">
                <a:solidFill>
                  <a:srgbClr val="34D399"/>
                </a:solidFill>
                <a:latin typeface="Consolas"/>
              </a:defRPr>
            </a:pPr>
            <a:r>
              <a:t>    # Returns: [0.021, -0.153, 0.087, ...]</a:t>
            </a:r>
          </a:p>
          <a:p>
            <a:pPr>
              <a:spcAft>
                <a:spcPts val="200"/>
              </a:spcAft>
              <a:defRPr sz="1200">
                <a:solidFill>
                  <a:srgbClr val="34D399"/>
                </a:solidFill>
                <a:latin typeface="Consolas"/>
              </a:defRPr>
            </a:pPr>
            <a:r>
              <a:t>    # Length: 1,536 floats</a:t>
            </a:r>
          </a:p>
          <a:p>
            <a:pPr>
              <a:spcAft>
                <a:spcPts val="200"/>
              </a:spcAft>
              <a:defRPr sz="1200">
                <a:solidFill>
                  <a:srgbClr val="E2E4EA"/>
                </a:solidFill>
                <a:latin typeface="Consolas"/>
              </a:defRPr>
            </a:pPr>
            <a:r>
              <a:t>    return embedding</a:t>
            </a:r>
          </a:p>
        </p:txBody>
      </p:sp>
      <p:sp>
        <p:nvSpPr>
          <p:cNvPr id="7" name="TextBox 6"/>
          <p:cNvSpPr txBox="1"/>
          <p:nvPr/>
        </p:nvSpPr>
        <p:spPr>
          <a:xfrm>
            <a:off x="6400800" y="4572000"/>
            <a:ext cx="4572000" cy="274320"/>
          </a:xfrm>
          <a:prstGeom prst="rect">
            <a:avLst/>
          </a:prstGeom>
          <a:noFill/>
        </p:spPr>
        <p:txBody>
          <a:bodyPr wrap="square">
            <a:spAutoFit/>
          </a:bodyPr>
          <a:lstStyle/>
          <a:p>
            <a:pPr algn="l">
              <a:defRPr sz="1100" b="1">
                <a:solidFill>
                  <a:srgbClr val="818CF8"/>
                </a:solidFill>
                <a:latin typeface="Calibri"/>
              </a:defRPr>
            </a:pPr>
            <a:r>
              <a:t>ChromaDB uses Cosine Similarity to compare vectors</a:t>
            </a:r>
          </a:p>
        </p:txBody>
      </p:sp>
      <p:sp>
        <p:nvSpPr>
          <p:cNvPr id="8" name="Rounded Rectangle 7"/>
          <p:cNvSpPr/>
          <p:nvPr/>
        </p:nvSpPr>
        <p:spPr>
          <a:xfrm>
            <a:off x="6400800" y="4892040"/>
            <a:ext cx="5029200" cy="109728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0" y="4983480"/>
            <a:ext cx="4572000" cy="914400"/>
          </a:xfrm>
          <a:prstGeom prst="rect">
            <a:avLst/>
          </a:prstGeom>
          <a:noFill/>
        </p:spPr>
        <p:txBody>
          <a:bodyPr wrap="square">
            <a:spAutoFit/>
          </a:bodyPr>
          <a:lstStyle/>
          <a:p>
            <a:pPr algn="l">
              <a:defRPr sz="1300" b="0">
                <a:solidFill>
                  <a:srgbClr val="6B7280"/>
                </a:solidFill>
                <a:latin typeface="Calibri"/>
              </a:defRPr>
            </a:pPr>
            <a:r>
              <a:t>Score 0.98  →  Almost identical meaning ✅</a:t>
            </a:r>
            <a:br/>
            <a:r>
              <a:t>Score 0.50  →  Somewhat related</a:t>
            </a:r>
            <a:br/>
            <a:r>
              <a:t>Score 0.05  →  Completely unrelated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200" b="1">
                <a:solidFill>
                  <a:srgbClr val="E2E4EA"/>
                </a:solidFill>
                <a:latin typeface="Calibri"/>
              </a:defRPr>
            </a:pPr>
            <a:r>
              <a:t>Who Does What?</a:t>
            </a:r>
          </a:p>
        </p:txBody>
      </p:sp>
      <p:sp>
        <p:nvSpPr>
          <p:cNvPr id="3" name="TextBox 2"/>
          <p:cNvSpPr txBox="1"/>
          <p:nvPr/>
        </p:nvSpPr>
        <p:spPr>
          <a:xfrm>
            <a:off x="731520" y="822960"/>
            <a:ext cx="10058400" cy="365760"/>
          </a:xfrm>
          <a:prstGeom prst="rect">
            <a:avLst/>
          </a:prstGeom>
          <a:noFill/>
        </p:spPr>
        <p:txBody>
          <a:bodyPr wrap="square">
            <a:spAutoFit/>
          </a:bodyPr>
          <a:lstStyle/>
          <a:p>
            <a:pPr algn="l">
              <a:defRPr sz="1400" b="0">
                <a:solidFill>
                  <a:srgbClr val="6B7280"/>
                </a:solidFill>
                <a:latin typeface="Calibri"/>
              </a:defRPr>
            </a:pPr>
            <a:r>
              <a:t>Breaking down the responsibilities</a:t>
            </a:r>
          </a:p>
        </p:txBody>
      </p:sp>
      <p:sp>
        <p:nvSpPr>
          <p:cNvPr id="4" name="Rounded Rectangle 3"/>
          <p:cNvSpPr/>
          <p:nvPr/>
        </p:nvSpPr>
        <p:spPr>
          <a:xfrm>
            <a:off x="457200" y="1554480"/>
            <a:ext cx="2651760" cy="4572000"/>
          </a:xfrm>
          <a:prstGeom prst="roundRect">
            <a:avLst/>
          </a:prstGeom>
          <a:solidFill>
            <a:srgbClr val="1A1E2B"/>
          </a:solidFill>
          <a:ln w="12700">
            <a:solidFill>
              <a:srgbClr val="FDC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91640"/>
            <a:ext cx="2651760" cy="457200"/>
          </a:xfrm>
          <a:prstGeom prst="rect">
            <a:avLst/>
          </a:prstGeom>
          <a:noFill/>
        </p:spPr>
        <p:txBody>
          <a:bodyPr wrap="square">
            <a:spAutoFit/>
          </a:bodyPr>
          <a:lstStyle/>
          <a:p>
            <a:pPr algn="ctr">
              <a:defRPr sz="3000" b="0">
                <a:solidFill>
                  <a:srgbClr val="FDCB6E"/>
                </a:solidFill>
                <a:latin typeface="Calibri"/>
              </a:defRPr>
            </a:pPr>
            <a:r>
              <a:t>🐍</a:t>
            </a:r>
          </a:p>
        </p:txBody>
      </p:sp>
      <p:sp>
        <p:nvSpPr>
          <p:cNvPr id="6" name="TextBox 5"/>
          <p:cNvSpPr txBox="1"/>
          <p:nvPr/>
        </p:nvSpPr>
        <p:spPr>
          <a:xfrm>
            <a:off x="457200" y="2103120"/>
            <a:ext cx="2651760" cy="548640"/>
          </a:xfrm>
          <a:prstGeom prst="rect">
            <a:avLst/>
          </a:prstGeom>
          <a:noFill/>
        </p:spPr>
        <p:txBody>
          <a:bodyPr wrap="square">
            <a:spAutoFit/>
          </a:bodyPr>
          <a:lstStyle/>
          <a:p>
            <a:pPr algn="ctr">
              <a:defRPr sz="1600" b="1">
                <a:solidFill>
                  <a:srgbClr val="E2E4EA"/>
                </a:solidFill>
                <a:latin typeface="Calibri"/>
              </a:defRPr>
            </a:pPr>
            <a:r>
              <a:t>Python</a:t>
            </a:r>
          </a:p>
        </p:txBody>
      </p:sp>
      <p:sp>
        <p:nvSpPr>
          <p:cNvPr id="7" name="TextBox 6"/>
          <p:cNvSpPr txBox="1"/>
          <p:nvPr/>
        </p:nvSpPr>
        <p:spPr>
          <a:xfrm>
            <a:off x="457200" y="2651760"/>
            <a:ext cx="2651760" cy="320040"/>
          </a:xfrm>
          <a:prstGeom prst="rect">
            <a:avLst/>
          </a:prstGeom>
          <a:noFill/>
        </p:spPr>
        <p:txBody>
          <a:bodyPr wrap="square">
            <a:spAutoFit/>
          </a:bodyPr>
          <a:lstStyle/>
          <a:p>
            <a:pPr algn="ctr">
              <a:defRPr sz="1200" b="1">
                <a:solidFill>
                  <a:srgbClr val="FDCB6E"/>
                </a:solidFill>
                <a:latin typeface="Calibri"/>
              </a:defRPr>
            </a:pPr>
            <a:r>
              <a:t>The Chopper</a:t>
            </a:r>
          </a:p>
        </p:txBody>
      </p:sp>
      <p:sp>
        <p:nvSpPr>
          <p:cNvPr id="8" name="TextBox 7"/>
          <p:cNvSpPr txBox="1"/>
          <p:nvPr/>
        </p:nvSpPr>
        <p:spPr>
          <a:xfrm>
            <a:off x="457200" y="3017520"/>
            <a:ext cx="2651760" cy="731520"/>
          </a:xfrm>
          <a:prstGeom prst="rect">
            <a:avLst/>
          </a:prstGeom>
          <a:noFill/>
        </p:spPr>
        <p:txBody>
          <a:bodyPr wrap="square">
            <a:spAutoFit/>
          </a:bodyPr>
          <a:lstStyle/>
          <a:p>
            <a:pPr algn="ctr">
              <a:defRPr sz="1200" b="0">
                <a:solidFill>
                  <a:srgbClr val="6B7280"/>
                </a:solidFill>
                <a:latin typeface="Calibri"/>
              </a:defRPr>
            </a:pPr>
            <a:r>
              <a:t>Splits raw text into</a:t>
            </a:r>
            <a:br/>
            <a:r>
              <a:t>smaller chunks</a:t>
            </a:r>
          </a:p>
        </p:txBody>
      </p:sp>
      <p:sp>
        <p:nvSpPr>
          <p:cNvPr id="9" name="Rounded Rectangle 8"/>
          <p:cNvSpPr/>
          <p:nvPr/>
        </p:nvSpPr>
        <p:spPr>
          <a:xfrm>
            <a:off x="594360" y="3840480"/>
            <a:ext cx="2377440" cy="201168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lgn="ctr">
              <a:defRPr sz="1000">
                <a:solidFill>
                  <a:srgbClr val="6B7280"/>
                </a:solidFill>
                <a:latin typeface="Consolas"/>
              </a:defRPr>
            </a:pPr>
            <a:r>
              <a:t>chunks = text.split("\n")</a:t>
            </a:r>
          </a:p>
        </p:txBody>
      </p:sp>
      <p:sp>
        <p:nvSpPr>
          <p:cNvPr id="10" name="Rounded Rectangle 9"/>
          <p:cNvSpPr/>
          <p:nvPr/>
        </p:nvSpPr>
        <p:spPr>
          <a:xfrm>
            <a:off x="3337560" y="1554480"/>
            <a:ext cx="2651760" cy="4572000"/>
          </a:xfrm>
          <a:prstGeom prst="roundRect">
            <a:avLst/>
          </a:prstGeom>
          <a:solidFill>
            <a:srgbClr val="1A1E2B"/>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37560" y="1691640"/>
            <a:ext cx="2651760" cy="457200"/>
          </a:xfrm>
          <a:prstGeom prst="rect">
            <a:avLst/>
          </a:prstGeom>
          <a:noFill/>
        </p:spPr>
        <p:txBody>
          <a:bodyPr wrap="square">
            <a:spAutoFit/>
          </a:bodyPr>
          <a:lstStyle/>
          <a:p>
            <a:pPr algn="ctr">
              <a:defRPr sz="3000" b="0">
                <a:solidFill>
                  <a:srgbClr val="818CF8"/>
                </a:solidFill>
                <a:latin typeface="Calibri"/>
              </a:defRPr>
            </a:pPr>
            <a:r>
              <a:t>🧠</a:t>
            </a:r>
          </a:p>
        </p:txBody>
      </p:sp>
      <p:sp>
        <p:nvSpPr>
          <p:cNvPr id="12" name="TextBox 11"/>
          <p:cNvSpPr txBox="1"/>
          <p:nvPr/>
        </p:nvSpPr>
        <p:spPr>
          <a:xfrm>
            <a:off x="3337560" y="2103120"/>
            <a:ext cx="2651760" cy="548640"/>
          </a:xfrm>
          <a:prstGeom prst="rect">
            <a:avLst/>
          </a:prstGeom>
          <a:noFill/>
        </p:spPr>
        <p:txBody>
          <a:bodyPr wrap="square">
            <a:spAutoFit/>
          </a:bodyPr>
          <a:lstStyle/>
          <a:p>
            <a:pPr algn="ctr">
              <a:defRPr sz="1600" b="1">
                <a:solidFill>
                  <a:srgbClr val="E2E4EA"/>
                </a:solidFill>
                <a:latin typeface="Calibri"/>
              </a:defRPr>
            </a:pPr>
            <a:r>
              <a:t>OpenAI</a:t>
            </a:r>
            <a:br/>
            <a:r>
              <a:t>Embeddings</a:t>
            </a:r>
          </a:p>
        </p:txBody>
      </p:sp>
      <p:sp>
        <p:nvSpPr>
          <p:cNvPr id="13" name="TextBox 12"/>
          <p:cNvSpPr txBox="1"/>
          <p:nvPr/>
        </p:nvSpPr>
        <p:spPr>
          <a:xfrm>
            <a:off x="3337560" y="2651760"/>
            <a:ext cx="2651760" cy="320040"/>
          </a:xfrm>
          <a:prstGeom prst="rect">
            <a:avLst/>
          </a:prstGeom>
          <a:noFill/>
        </p:spPr>
        <p:txBody>
          <a:bodyPr wrap="square">
            <a:spAutoFit/>
          </a:bodyPr>
          <a:lstStyle/>
          <a:p>
            <a:pPr algn="ctr">
              <a:defRPr sz="1200" b="1">
                <a:solidFill>
                  <a:srgbClr val="818CF8"/>
                </a:solidFill>
                <a:latin typeface="Calibri"/>
              </a:defRPr>
            </a:pPr>
            <a:r>
              <a:t>The Translator</a:t>
            </a:r>
          </a:p>
        </p:txBody>
      </p:sp>
      <p:sp>
        <p:nvSpPr>
          <p:cNvPr id="14" name="TextBox 13"/>
          <p:cNvSpPr txBox="1"/>
          <p:nvPr/>
        </p:nvSpPr>
        <p:spPr>
          <a:xfrm>
            <a:off x="3337560" y="3017520"/>
            <a:ext cx="2651760" cy="731520"/>
          </a:xfrm>
          <a:prstGeom prst="rect">
            <a:avLst/>
          </a:prstGeom>
          <a:noFill/>
        </p:spPr>
        <p:txBody>
          <a:bodyPr wrap="square">
            <a:spAutoFit/>
          </a:bodyPr>
          <a:lstStyle/>
          <a:p>
            <a:pPr algn="ctr">
              <a:defRPr sz="1200" b="0">
                <a:solidFill>
                  <a:srgbClr val="6B7280"/>
                </a:solidFill>
                <a:latin typeface="Calibri"/>
              </a:defRPr>
            </a:pPr>
            <a:r>
              <a:t>Converts English text</a:t>
            </a:r>
            <a:br/>
            <a:r>
              <a:t>into math vectors</a:t>
            </a:r>
          </a:p>
        </p:txBody>
      </p:sp>
      <p:sp>
        <p:nvSpPr>
          <p:cNvPr id="15" name="Rounded Rectangle 14"/>
          <p:cNvSpPr/>
          <p:nvPr/>
        </p:nvSpPr>
        <p:spPr>
          <a:xfrm>
            <a:off x="3474720" y="3840480"/>
            <a:ext cx="2377440" cy="201168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lgn="ctr">
              <a:defRPr sz="1000">
                <a:solidFill>
                  <a:srgbClr val="6B7280"/>
                </a:solidFill>
                <a:latin typeface="Consolas"/>
              </a:defRPr>
            </a:pPr>
            <a:r>
              <a:t>client.embeddings.create(</a:t>
            </a:r>
          </a:p>
          <a:p>
            <a:pPr>
              <a:defRPr sz="1000">
                <a:solidFill>
                  <a:srgbClr val="6B7280"/>
                </a:solidFill>
                <a:latin typeface="Consolas"/>
              </a:defRPr>
            </a:pPr>
            <a:r>
              <a:t>  model="text-embedding-3-small",</a:t>
            </a:r>
          </a:p>
          <a:p>
            <a:pPr>
              <a:defRPr sz="1000">
                <a:solidFill>
                  <a:srgbClr val="6B7280"/>
                </a:solidFill>
                <a:latin typeface="Consolas"/>
              </a:defRPr>
            </a:pPr>
            <a:r>
              <a:t>  input=text</a:t>
            </a:r>
          </a:p>
          <a:p>
            <a:pPr>
              <a:defRPr sz="1000">
                <a:solidFill>
                  <a:srgbClr val="6B7280"/>
                </a:solidFill>
                <a:latin typeface="Consolas"/>
              </a:defRPr>
            </a:pPr>
            <a:r>
              <a:t>)</a:t>
            </a:r>
          </a:p>
        </p:txBody>
      </p:sp>
      <p:sp>
        <p:nvSpPr>
          <p:cNvPr id="16" name="Rounded Rectangle 15"/>
          <p:cNvSpPr/>
          <p:nvPr/>
        </p:nvSpPr>
        <p:spPr>
          <a:xfrm>
            <a:off x="6217920" y="1554480"/>
            <a:ext cx="2651760" cy="4572000"/>
          </a:xfrm>
          <a:prstGeom prst="roundRect">
            <a:avLst/>
          </a:prstGeom>
          <a:solidFill>
            <a:srgbClr val="1A1E2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691640"/>
            <a:ext cx="2651760" cy="457200"/>
          </a:xfrm>
          <a:prstGeom prst="rect">
            <a:avLst/>
          </a:prstGeom>
          <a:noFill/>
        </p:spPr>
        <p:txBody>
          <a:bodyPr wrap="square">
            <a:spAutoFit/>
          </a:bodyPr>
          <a:lstStyle/>
          <a:p>
            <a:pPr algn="ctr">
              <a:defRPr sz="3000" b="0">
                <a:solidFill>
                  <a:srgbClr val="34D399"/>
                </a:solidFill>
                <a:latin typeface="Calibri"/>
              </a:defRPr>
            </a:pPr>
            <a:r>
              <a:t>💾</a:t>
            </a:r>
          </a:p>
        </p:txBody>
      </p:sp>
      <p:sp>
        <p:nvSpPr>
          <p:cNvPr id="18" name="TextBox 17"/>
          <p:cNvSpPr txBox="1"/>
          <p:nvPr/>
        </p:nvSpPr>
        <p:spPr>
          <a:xfrm>
            <a:off x="6217920" y="2103120"/>
            <a:ext cx="2651760" cy="548640"/>
          </a:xfrm>
          <a:prstGeom prst="rect">
            <a:avLst/>
          </a:prstGeom>
          <a:noFill/>
        </p:spPr>
        <p:txBody>
          <a:bodyPr wrap="square">
            <a:spAutoFit/>
          </a:bodyPr>
          <a:lstStyle/>
          <a:p>
            <a:pPr algn="ctr">
              <a:defRPr sz="1600" b="1">
                <a:solidFill>
                  <a:srgbClr val="E2E4EA"/>
                </a:solidFill>
                <a:latin typeface="Calibri"/>
              </a:defRPr>
            </a:pPr>
            <a:r>
              <a:t>ChromaDB</a:t>
            </a:r>
          </a:p>
        </p:txBody>
      </p:sp>
      <p:sp>
        <p:nvSpPr>
          <p:cNvPr id="19" name="TextBox 18"/>
          <p:cNvSpPr txBox="1"/>
          <p:nvPr/>
        </p:nvSpPr>
        <p:spPr>
          <a:xfrm>
            <a:off x="6217920" y="2651760"/>
            <a:ext cx="2651760" cy="320040"/>
          </a:xfrm>
          <a:prstGeom prst="rect">
            <a:avLst/>
          </a:prstGeom>
          <a:noFill/>
        </p:spPr>
        <p:txBody>
          <a:bodyPr wrap="square">
            <a:spAutoFit/>
          </a:bodyPr>
          <a:lstStyle/>
          <a:p>
            <a:pPr algn="ctr">
              <a:defRPr sz="1200" b="1">
                <a:solidFill>
                  <a:srgbClr val="34D399"/>
                </a:solidFill>
                <a:latin typeface="Calibri"/>
              </a:defRPr>
            </a:pPr>
            <a:r>
              <a:t>The Searcher</a:t>
            </a:r>
          </a:p>
        </p:txBody>
      </p:sp>
      <p:sp>
        <p:nvSpPr>
          <p:cNvPr id="20" name="TextBox 19"/>
          <p:cNvSpPr txBox="1"/>
          <p:nvPr/>
        </p:nvSpPr>
        <p:spPr>
          <a:xfrm>
            <a:off x="6217920" y="3017520"/>
            <a:ext cx="2651760" cy="731520"/>
          </a:xfrm>
          <a:prstGeom prst="rect">
            <a:avLst/>
          </a:prstGeom>
          <a:noFill/>
        </p:spPr>
        <p:txBody>
          <a:bodyPr wrap="square">
            <a:spAutoFit/>
          </a:bodyPr>
          <a:lstStyle/>
          <a:p>
            <a:pPr algn="ctr">
              <a:defRPr sz="1200" b="0">
                <a:solidFill>
                  <a:srgbClr val="6B7280"/>
                </a:solidFill>
                <a:latin typeface="Calibri"/>
              </a:defRPr>
            </a:pPr>
            <a:r>
              <a:t>Stores vectors &amp; finds</a:t>
            </a:r>
            <a:br/>
            <a:r>
              <a:t>Top 3 closest matches</a:t>
            </a:r>
          </a:p>
        </p:txBody>
      </p:sp>
      <p:sp>
        <p:nvSpPr>
          <p:cNvPr id="21" name="Rounded Rectangle 20"/>
          <p:cNvSpPr/>
          <p:nvPr/>
        </p:nvSpPr>
        <p:spPr>
          <a:xfrm>
            <a:off x="6355080" y="3840480"/>
            <a:ext cx="2377440" cy="201168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lgn="ctr">
              <a:defRPr sz="1000">
                <a:solidFill>
                  <a:srgbClr val="6B7280"/>
                </a:solidFill>
                <a:latin typeface="Consolas"/>
              </a:defRPr>
            </a:pPr>
            <a:r>
              <a:t>collection.query(</a:t>
            </a:r>
          </a:p>
          <a:p>
            <a:pPr>
              <a:defRPr sz="1000">
                <a:solidFill>
                  <a:srgbClr val="6B7280"/>
                </a:solidFill>
                <a:latin typeface="Consolas"/>
              </a:defRPr>
            </a:pPr>
            <a:r>
              <a:t>  query_embeddings=[vec],</a:t>
            </a:r>
          </a:p>
          <a:p>
            <a:pPr>
              <a:defRPr sz="1000">
                <a:solidFill>
                  <a:srgbClr val="6B7280"/>
                </a:solidFill>
                <a:latin typeface="Consolas"/>
              </a:defRPr>
            </a:pPr>
            <a:r>
              <a:t>  n_results=3</a:t>
            </a:r>
          </a:p>
          <a:p>
            <a:pPr>
              <a:defRPr sz="1000">
                <a:solidFill>
                  <a:srgbClr val="6B7280"/>
                </a:solidFill>
                <a:latin typeface="Consolas"/>
              </a:defRPr>
            </a:pPr>
            <a:r>
              <a:t>)</a:t>
            </a:r>
          </a:p>
        </p:txBody>
      </p:sp>
      <p:sp>
        <p:nvSpPr>
          <p:cNvPr id="22" name="Rounded Rectangle 21"/>
          <p:cNvSpPr/>
          <p:nvPr/>
        </p:nvSpPr>
        <p:spPr>
          <a:xfrm>
            <a:off x="9098280" y="1554480"/>
            <a:ext cx="2651760" cy="4572000"/>
          </a:xfrm>
          <a:prstGeom prst="roundRect">
            <a:avLst/>
          </a:prstGeom>
          <a:solidFill>
            <a:srgbClr val="1A1E2B"/>
          </a:solidFill>
          <a:ln w="12700">
            <a:solidFill>
              <a:srgbClr val="74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1691640"/>
            <a:ext cx="2651760" cy="457200"/>
          </a:xfrm>
          <a:prstGeom prst="rect">
            <a:avLst/>
          </a:prstGeom>
          <a:noFill/>
        </p:spPr>
        <p:txBody>
          <a:bodyPr wrap="square">
            <a:spAutoFit/>
          </a:bodyPr>
          <a:lstStyle/>
          <a:p>
            <a:pPr algn="ctr">
              <a:defRPr sz="3000" b="0">
                <a:solidFill>
                  <a:srgbClr val="74B9FF"/>
                </a:solidFill>
                <a:latin typeface="Calibri"/>
              </a:defRPr>
            </a:pPr>
            <a:r>
              <a:t>🤖</a:t>
            </a:r>
          </a:p>
        </p:txBody>
      </p:sp>
      <p:sp>
        <p:nvSpPr>
          <p:cNvPr id="24" name="TextBox 23"/>
          <p:cNvSpPr txBox="1"/>
          <p:nvPr/>
        </p:nvSpPr>
        <p:spPr>
          <a:xfrm>
            <a:off x="9098280" y="2103120"/>
            <a:ext cx="2651760" cy="548640"/>
          </a:xfrm>
          <a:prstGeom prst="rect">
            <a:avLst/>
          </a:prstGeom>
          <a:noFill/>
        </p:spPr>
        <p:txBody>
          <a:bodyPr wrap="square">
            <a:spAutoFit/>
          </a:bodyPr>
          <a:lstStyle/>
          <a:p>
            <a:pPr algn="ctr">
              <a:defRPr sz="1600" b="1">
                <a:solidFill>
                  <a:srgbClr val="E2E4EA"/>
                </a:solidFill>
                <a:latin typeface="Calibri"/>
              </a:defRPr>
            </a:pPr>
            <a:r>
              <a:t>OpenAI</a:t>
            </a:r>
            <a:br/>
            <a:r>
              <a:t>Chat</a:t>
            </a:r>
          </a:p>
        </p:txBody>
      </p:sp>
      <p:sp>
        <p:nvSpPr>
          <p:cNvPr id="25" name="TextBox 24"/>
          <p:cNvSpPr txBox="1"/>
          <p:nvPr/>
        </p:nvSpPr>
        <p:spPr>
          <a:xfrm>
            <a:off x="9098280" y="2651760"/>
            <a:ext cx="2651760" cy="320040"/>
          </a:xfrm>
          <a:prstGeom prst="rect">
            <a:avLst/>
          </a:prstGeom>
          <a:noFill/>
        </p:spPr>
        <p:txBody>
          <a:bodyPr wrap="square">
            <a:spAutoFit/>
          </a:bodyPr>
          <a:lstStyle/>
          <a:p>
            <a:pPr algn="ctr">
              <a:defRPr sz="1200" b="1">
                <a:solidFill>
                  <a:srgbClr val="74B9FF"/>
                </a:solidFill>
                <a:latin typeface="Calibri"/>
              </a:defRPr>
            </a:pPr>
            <a:r>
              <a:t>The Writer</a:t>
            </a:r>
          </a:p>
        </p:txBody>
      </p:sp>
      <p:sp>
        <p:nvSpPr>
          <p:cNvPr id="26" name="TextBox 25"/>
          <p:cNvSpPr txBox="1"/>
          <p:nvPr/>
        </p:nvSpPr>
        <p:spPr>
          <a:xfrm>
            <a:off x="9098280" y="3017520"/>
            <a:ext cx="2651760" cy="731520"/>
          </a:xfrm>
          <a:prstGeom prst="rect">
            <a:avLst/>
          </a:prstGeom>
          <a:noFill/>
        </p:spPr>
        <p:txBody>
          <a:bodyPr wrap="square">
            <a:spAutoFit/>
          </a:bodyPr>
          <a:lstStyle/>
          <a:p>
            <a:pPr algn="ctr">
              <a:defRPr sz="1200" b="0">
                <a:solidFill>
                  <a:srgbClr val="6B7280"/>
                </a:solidFill>
                <a:latin typeface="Calibri"/>
              </a:defRPr>
            </a:pPr>
            <a:r>
              <a:t>Reads context &amp; writes</a:t>
            </a:r>
            <a:br/>
            <a:r>
              <a:t>the final answer</a:t>
            </a:r>
          </a:p>
        </p:txBody>
      </p:sp>
      <p:sp>
        <p:nvSpPr>
          <p:cNvPr id="27" name="Rounded Rectangle 26"/>
          <p:cNvSpPr/>
          <p:nvPr/>
        </p:nvSpPr>
        <p:spPr>
          <a:xfrm>
            <a:off x="9235440" y="3840480"/>
            <a:ext cx="2377440" cy="2011680"/>
          </a:xfrm>
          <a:prstGeom prst="roundRect">
            <a:avLst/>
          </a:prstGeom>
          <a:solidFill>
            <a:srgbClr val="0A0C12"/>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lgn="ctr">
              <a:defRPr sz="1000">
                <a:solidFill>
                  <a:srgbClr val="6B7280"/>
                </a:solidFill>
                <a:latin typeface="Consolas"/>
              </a:defRPr>
            </a:pPr>
            <a:r>
              <a:t>client.chat.completions.create(</a:t>
            </a:r>
          </a:p>
          <a:p>
            <a:pPr>
              <a:defRPr sz="1000">
                <a:solidFill>
                  <a:srgbClr val="6B7280"/>
                </a:solidFill>
                <a:latin typeface="Consolas"/>
              </a:defRPr>
            </a:pPr>
            <a:r>
              <a:t>  model="gpt-4o-mini",</a:t>
            </a:r>
          </a:p>
          <a:p>
            <a:pPr>
              <a:defRPr sz="1000">
                <a:solidFill>
                  <a:srgbClr val="6B7280"/>
                </a:solidFill>
                <a:latin typeface="Consolas"/>
              </a:defRPr>
            </a:pPr>
            <a:r>
              <a:t>  messages=[...]</a:t>
            </a:r>
          </a:p>
          <a:p>
            <a:pPr>
              <a:defRPr sz="1000">
                <a:solidFill>
                  <a:srgbClr val="6B7280"/>
                </a:solidFill>
                <a:latin typeface="Consolas"/>
              </a:defRPr>
            </a:pPr>
            <a: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E2E4EA"/>
                </a:solidFill>
                <a:latin typeface="Calibri"/>
              </a:defRPr>
            </a:pPr>
            <a:r>
              <a:t>Key Takeaways</a:t>
            </a:r>
          </a:p>
        </p:txBody>
      </p:sp>
      <p:sp>
        <p:nvSpPr>
          <p:cNvPr id="3" name="Rounded Rectangle 2"/>
          <p:cNvSpPr/>
          <p:nvPr/>
        </p:nvSpPr>
        <p:spPr>
          <a:xfrm>
            <a:off x="731520" y="1371600"/>
            <a:ext cx="10725912" cy="82296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5840" y="1536192"/>
            <a:ext cx="457200" cy="457200"/>
          </a:xfrm>
          <a:prstGeom prst="ellipse">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defRPr>
            </a:pPr>
            <a:r>
              <a:t>1</a:t>
            </a:r>
          </a:p>
        </p:txBody>
      </p:sp>
      <p:sp>
        <p:nvSpPr>
          <p:cNvPr id="5" name="TextBox 4"/>
          <p:cNvSpPr txBox="1"/>
          <p:nvPr/>
        </p:nvSpPr>
        <p:spPr>
          <a:xfrm>
            <a:off x="1737360" y="1463040"/>
            <a:ext cx="9144000" cy="320040"/>
          </a:xfrm>
          <a:prstGeom prst="rect">
            <a:avLst/>
          </a:prstGeom>
          <a:noFill/>
        </p:spPr>
        <p:txBody>
          <a:bodyPr wrap="square">
            <a:spAutoFit/>
          </a:bodyPr>
          <a:lstStyle/>
          <a:p>
            <a:pPr algn="l">
              <a:defRPr sz="1600" b="1">
                <a:solidFill>
                  <a:srgbClr val="E2E4EA"/>
                </a:solidFill>
                <a:latin typeface="Calibri"/>
              </a:defRPr>
            </a:pPr>
            <a:r>
              <a:t>RAG = Open Book Exam for AI</a:t>
            </a:r>
          </a:p>
        </p:txBody>
      </p:sp>
      <p:sp>
        <p:nvSpPr>
          <p:cNvPr id="6" name="TextBox 5"/>
          <p:cNvSpPr txBox="1"/>
          <p:nvPr/>
        </p:nvSpPr>
        <p:spPr>
          <a:xfrm>
            <a:off x="1737360" y="1783080"/>
            <a:ext cx="9144000" cy="365760"/>
          </a:xfrm>
          <a:prstGeom prst="rect">
            <a:avLst/>
          </a:prstGeom>
          <a:noFill/>
        </p:spPr>
        <p:txBody>
          <a:bodyPr wrap="square">
            <a:spAutoFit/>
          </a:bodyPr>
          <a:lstStyle/>
          <a:p>
            <a:pPr algn="l">
              <a:defRPr sz="1300" b="0">
                <a:solidFill>
                  <a:srgbClr val="6B7280"/>
                </a:solidFill>
                <a:latin typeface="Calibri"/>
              </a:defRPr>
            </a:pPr>
            <a:r>
              <a:t>Instead of training a custom model, we search a database and hand the AI the relevant pages.</a:t>
            </a:r>
          </a:p>
        </p:txBody>
      </p:sp>
      <p:sp>
        <p:nvSpPr>
          <p:cNvPr id="7" name="Rounded Rectangle 6"/>
          <p:cNvSpPr/>
          <p:nvPr/>
        </p:nvSpPr>
        <p:spPr>
          <a:xfrm>
            <a:off x="731520" y="2377440"/>
            <a:ext cx="10725912" cy="82296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5840" y="2542032"/>
            <a:ext cx="457200" cy="45720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defRPr>
            </a:pPr>
            <a:r>
              <a:t>2</a:t>
            </a:r>
          </a:p>
        </p:txBody>
      </p:sp>
      <p:sp>
        <p:nvSpPr>
          <p:cNvPr id="9" name="TextBox 8"/>
          <p:cNvSpPr txBox="1"/>
          <p:nvPr/>
        </p:nvSpPr>
        <p:spPr>
          <a:xfrm>
            <a:off x="1737360" y="2468880"/>
            <a:ext cx="9144000" cy="320040"/>
          </a:xfrm>
          <a:prstGeom prst="rect">
            <a:avLst/>
          </a:prstGeom>
          <a:noFill/>
        </p:spPr>
        <p:txBody>
          <a:bodyPr wrap="square">
            <a:spAutoFit/>
          </a:bodyPr>
          <a:lstStyle/>
          <a:p>
            <a:pPr algn="l">
              <a:defRPr sz="1600" b="1">
                <a:solidFill>
                  <a:srgbClr val="E2E4EA"/>
                </a:solidFill>
                <a:latin typeface="Calibri"/>
              </a:defRPr>
            </a:pPr>
            <a:r>
              <a:t>The LLM never sees ALL your data</a:t>
            </a:r>
          </a:p>
        </p:txBody>
      </p:sp>
      <p:sp>
        <p:nvSpPr>
          <p:cNvPr id="10" name="TextBox 9"/>
          <p:cNvSpPr txBox="1"/>
          <p:nvPr/>
        </p:nvSpPr>
        <p:spPr>
          <a:xfrm>
            <a:off x="1737360" y="2788920"/>
            <a:ext cx="9144000" cy="365760"/>
          </a:xfrm>
          <a:prstGeom prst="rect">
            <a:avLst/>
          </a:prstGeom>
          <a:noFill/>
        </p:spPr>
        <p:txBody>
          <a:bodyPr wrap="square">
            <a:spAutoFit/>
          </a:bodyPr>
          <a:lstStyle/>
          <a:p>
            <a:pPr algn="l">
              <a:defRPr sz="1300" b="0">
                <a:solidFill>
                  <a:srgbClr val="6B7280"/>
                </a:solidFill>
                <a:latin typeface="Calibri"/>
              </a:defRPr>
            </a:pPr>
            <a:r>
              <a:t>ChromaDB narrows 1 lakh chunks down to the Top 3. The LLM only reads those 3.</a:t>
            </a:r>
          </a:p>
        </p:txBody>
      </p:sp>
      <p:sp>
        <p:nvSpPr>
          <p:cNvPr id="11" name="Rounded Rectangle 10"/>
          <p:cNvSpPr/>
          <p:nvPr/>
        </p:nvSpPr>
        <p:spPr>
          <a:xfrm>
            <a:off x="731520" y="3383280"/>
            <a:ext cx="10725912" cy="82296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05840" y="3547872"/>
            <a:ext cx="457200" cy="457200"/>
          </a:xfrm>
          <a:prstGeom prst="ellipse">
            <a:avLst/>
          </a:prstGeom>
          <a:solidFill>
            <a:srgbClr val="FD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defRPr>
            </a:pPr>
            <a:r>
              <a:t>3</a:t>
            </a:r>
          </a:p>
        </p:txBody>
      </p:sp>
      <p:sp>
        <p:nvSpPr>
          <p:cNvPr id="13" name="TextBox 12"/>
          <p:cNvSpPr txBox="1"/>
          <p:nvPr/>
        </p:nvSpPr>
        <p:spPr>
          <a:xfrm>
            <a:off x="1737360" y="3474720"/>
            <a:ext cx="9144000" cy="320040"/>
          </a:xfrm>
          <a:prstGeom prst="rect">
            <a:avLst/>
          </a:prstGeom>
          <a:noFill/>
        </p:spPr>
        <p:txBody>
          <a:bodyPr wrap="square">
            <a:spAutoFit/>
          </a:bodyPr>
          <a:lstStyle/>
          <a:p>
            <a:pPr algn="l">
              <a:defRPr sz="1600" b="1">
                <a:solidFill>
                  <a:srgbClr val="E2E4EA"/>
                </a:solidFill>
                <a:latin typeface="Calibri"/>
              </a:defRPr>
            </a:pPr>
            <a:r>
              <a:t>The prompt controls strictness</a:t>
            </a:r>
          </a:p>
        </p:txBody>
      </p:sp>
      <p:sp>
        <p:nvSpPr>
          <p:cNvPr id="14" name="TextBox 13"/>
          <p:cNvSpPr txBox="1"/>
          <p:nvPr/>
        </p:nvSpPr>
        <p:spPr>
          <a:xfrm>
            <a:off x="1737360" y="3794760"/>
            <a:ext cx="9144000" cy="365760"/>
          </a:xfrm>
          <a:prstGeom prst="rect">
            <a:avLst/>
          </a:prstGeom>
          <a:noFill/>
        </p:spPr>
        <p:txBody>
          <a:bodyPr wrap="square">
            <a:spAutoFit/>
          </a:bodyPr>
          <a:lstStyle/>
          <a:p>
            <a:pPr algn="l">
              <a:defRPr sz="1300" b="0">
                <a:solidFill>
                  <a:srgbClr val="6B7280"/>
                </a:solidFill>
                <a:latin typeface="Calibri"/>
              </a:defRPr>
            </a:pPr>
            <a:r>
              <a:t>"Answer ONLY from context" makes it strict. You can also allow fallback to general knowledge.</a:t>
            </a:r>
          </a:p>
        </p:txBody>
      </p:sp>
      <p:sp>
        <p:nvSpPr>
          <p:cNvPr id="15" name="Rounded Rectangle 14"/>
          <p:cNvSpPr/>
          <p:nvPr/>
        </p:nvSpPr>
        <p:spPr>
          <a:xfrm>
            <a:off x="731520" y="4389120"/>
            <a:ext cx="10725912" cy="82296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5840" y="4553712"/>
            <a:ext cx="457200" cy="457200"/>
          </a:xfrm>
          <a:prstGeom prst="ellipse">
            <a:avLst/>
          </a:prstGeom>
          <a:solidFill>
            <a:srgbClr val="74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defRPr>
            </a:pPr>
            <a:r>
              <a:t>4</a:t>
            </a:r>
          </a:p>
        </p:txBody>
      </p:sp>
      <p:sp>
        <p:nvSpPr>
          <p:cNvPr id="17" name="TextBox 16"/>
          <p:cNvSpPr txBox="1"/>
          <p:nvPr/>
        </p:nvSpPr>
        <p:spPr>
          <a:xfrm>
            <a:off x="1737360" y="4480560"/>
            <a:ext cx="9144000" cy="320040"/>
          </a:xfrm>
          <a:prstGeom prst="rect">
            <a:avLst/>
          </a:prstGeom>
          <a:noFill/>
        </p:spPr>
        <p:txBody>
          <a:bodyPr wrap="square">
            <a:spAutoFit/>
          </a:bodyPr>
          <a:lstStyle/>
          <a:p>
            <a:pPr algn="l">
              <a:defRPr sz="1600" b="1">
                <a:solidFill>
                  <a:srgbClr val="E2E4EA"/>
                </a:solidFill>
                <a:latin typeface="Calibri"/>
              </a:defRPr>
            </a:pPr>
            <a:r>
              <a:t>Embeddings capture meaning, not keywords</a:t>
            </a:r>
          </a:p>
        </p:txBody>
      </p:sp>
      <p:sp>
        <p:nvSpPr>
          <p:cNvPr id="18" name="TextBox 17"/>
          <p:cNvSpPr txBox="1"/>
          <p:nvPr/>
        </p:nvSpPr>
        <p:spPr>
          <a:xfrm>
            <a:off x="1737360" y="4800600"/>
            <a:ext cx="9144000" cy="365760"/>
          </a:xfrm>
          <a:prstGeom prst="rect">
            <a:avLst/>
          </a:prstGeom>
          <a:noFill/>
        </p:spPr>
        <p:txBody>
          <a:bodyPr wrap="square">
            <a:spAutoFit/>
          </a:bodyPr>
          <a:lstStyle/>
          <a:p>
            <a:pPr algn="l">
              <a:defRPr sz="1300" b="0">
                <a:solidFill>
                  <a:srgbClr val="6B7280"/>
                </a:solidFill>
                <a:latin typeface="Calibri"/>
              </a:defRPr>
            </a:pPr>
            <a:r>
              <a:t>"How many holidays?" and "Leave entitlement" have similar vectors even though they share zero words.</a:t>
            </a:r>
          </a:p>
        </p:txBody>
      </p:sp>
      <p:sp>
        <p:nvSpPr>
          <p:cNvPr id="19" name="Rounded Rectangle 18"/>
          <p:cNvSpPr/>
          <p:nvPr/>
        </p:nvSpPr>
        <p:spPr>
          <a:xfrm>
            <a:off x="731520" y="5394960"/>
            <a:ext cx="10725912" cy="822960"/>
          </a:xfrm>
          <a:prstGeom prst="roundRect">
            <a:avLst/>
          </a:prstGeom>
          <a:solidFill>
            <a:srgbClr val="1A1E2B"/>
          </a:solidFill>
          <a:ln w="12700">
            <a:solidFill>
              <a:srgbClr val="2A2E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5840" y="5559552"/>
            <a:ext cx="457200" cy="457200"/>
          </a:xfrm>
          <a:prstGeom prst="ellipse">
            <a:avLst/>
          </a:prstGeom>
          <a:solidFill>
            <a:srgbClr val="FD7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2E4EA"/>
                </a:solidFill>
              </a:defRPr>
            </a:pPr>
            <a:r>
              <a:t>5</a:t>
            </a:r>
          </a:p>
        </p:txBody>
      </p:sp>
      <p:sp>
        <p:nvSpPr>
          <p:cNvPr id="21" name="TextBox 20"/>
          <p:cNvSpPr txBox="1"/>
          <p:nvPr/>
        </p:nvSpPr>
        <p:spPr>
          <a:xfrm>
            <a:off x="1737360" y="5486400"/>
            <a:ext cx="9144000" cy="320040"/>
          </a:xfrm>
          <a:prstGeom prst="rect">
            <a:avLst/>
          </a:prstGeom>
          <a:noFill/>
        </p:spPr>
        <p:txBody>
          <a:bodyPr wrap="square">
            <a:spAutoFit/>
          </a:bodyPr>
          <a:lstStyle/>
          <a:p>
            <a:pPr algn="l">
              <a:defRPr sz="1600" b="1">
                <a:solidFill>
                  <a:srgbClr val="E2E4EA"/>
                </a:solidFill>
                <a:latin typeface="Calibri"/>
              </a:defRPr>
            </a:pPr>
            <a:r>
              <a:t>Updates are instant — no retraining</a:t>
            </a:r>
          </a:p>
        </p:txBody>
      </p:sp>
      <p:sp>
        <p:nvSpPr>
          <p:cNvPr id="22" name="TextBox 21"/>
          <p:cNvSpPr txBox="1"/>
          <p:nvPr/>
        </p:nvSpPr>
        <p:spPr>
          <a:xfrm>
            <a:off x="1737360" y="5806440"/>
            <a:ext cx="9144000" cy="365760"/>
          </a:xfrm>
          <a:prstGeom prst="rect">
            <a:avLst/>
          </a:prstGeom>
          <a:noFill/>
        </p:spPr>
        <p:txBody>
          <a:bodyPr wrap="square">
            <a:spAutoFit/>
          </a:bodyPr>
          <a:lstStyle/>
          <a:p>
            <a:pPr algn="l">
              <a:defRPr sz="1300" b="0">
                <a:solidFill>
                  <a:srgbClr val="6B7280"/>
                </a:solidFill>
                <a:latin typeface="Calibri"/>
              </a:defRPr>
            </a:pPr>
            <a:r>
              <a:t>Change a policy? Just re-ingest the new document. The pipeline uses it immediately.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ounded Rectangle 1"/>
          <p:cNvSpPr/>
          <p:nvPr/>
        </p:nvSpPr>
        <p:spPr>
          <a:xfrm>
            <a:off x="5029200" y="3017520"/>
            <a:ext cx="2130552" cy="54864"/>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60152" cy="914400"/>
          </a:xfrm>
          <a:prstGeom prst="rect">
            <a:avLst/>
          </a:prstGeom>
          <a:noFill/>
        </p:spPr>
        <p:txBody>
          <a:bodyPr wrap="square">
            <a:spAutoFit/>
          </a:bodyPr>
          <a:lstStyle/>
          <a:p>
            <a:pPr algn="ctr">
              <a:defRPr sz="4800" b="1">
                <a:solidFill>
                  <a:srgbClr val="E2E4EA"/>
                </a:solidFill>
                <a:latin typeface="Calibri"/>
              </a:defRPr>
            </a:pPr>
            <a:r>
              <a:t>Thank You! 🎯</a:t>
            </a:r>
          </a:p>
        </p:txBody>
      </p:sp>
      <p:sp>
        <p:nvSpPr>
          <p:cNvPr id="4" name="TextBox 3"/>
          <p:cNvSpPr txBox="1"/>
          <p:nvPr/>
        </p:nvSpPr>
        <p:spPr>
          <a:xfrm>
            <a:off x="914400" y="3291840"/>
            <a:ext cx="10360152" cy="548640"/>
          </a:xfrm>
          <a:prstGeom prst="rect">
            <a:avLst/>
          </a:prstGeom>
          <a:noFill/>
        </p:spPr>
        <p:txBody>
          <a:bodyPr wrap="square">
            <a:spAutoFit/>
          </a:bodyPr>
          <a:lstStyle/>
          <a:p>
            <a:pPr algn="ctr">
              <a:defRPr sz="1800" b="0">
                <a:solidFill>
                  <a:srgbClr val="818CF8"/>
                </a:solidFill>
                <a:latin typeface="Calibri"/>
              </a:defRPr>
            </a:pPr>
            <a:r>
              <a:t>Try the live demo at  http://localhost:5050</a:t>
            </a:r>
          </a:p>
        </p:txBody>
      </p:sp>
      <p:sp>
        <p:nvSpPr>
          <p:cNvPr id="5" name="TextBox 4"/>
          <p:cNvSpPr txBox="1"/>
          <p:nvPr/>
        </p:nvSpPr>
        <p:spPr>
          <a:xfrm>
            <a:off x="914400" y="3931920"/>
            <a:ext cx="10360152" cy="731520"/>
          </a:xfrm>
          <a:prstGeom prst="rect">
            <a:avLst/>
          </a:prstGeom>
          <a:noFill/>
        </p:spPr>
        <p:txBody>
          <a:bodyPr wrap="square">
            <a:spAutoFit/>
          </a:bodyPr>
          <a:lstStyle/>
          <a:p>
            <a:pPr algn="ctr">
              <a:defRPr sz="1400" b="0">
                <a:solidFill>
                  <a:srgbClr val="6B7280"/>
                </a:solidFill>
                <a:latin typeface="Calibri"/>
              </a:defRPr>
            </a:pPr>
            <a:r>
              <a:t>GitHub: github.com/bhargavt1997/AG-Rag-Demo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117"/>
          </a:solidFill>
          <a:ln>
            <a:solidFill>
              <a:srgbClr val="0F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none">
            <a:spAutoFit/>
          </a:bodyPr>
          <a:lstStyle/>
          <a:p>
            <a:pPr>
              <a:defRPr sz="3200" b="1">
                <a:solidFill>
                  <a:srgbClr val="FFFFFF"/>
                </a:solidFill>
              </a:defRPr>
            </a:pPr>
            <a:r>
              <a:t>Chunking Strategies</a:t>
            </a:r>
          </a:p>
        </p:txBody>
      </p:sp>
      <p:sp>
        <p:nvSpPr>
          <p:cNvPr id="4" name="Rounded Rectangle 3"/>
          <p:cNvSpPr/>
          <p:nvPr/>
        </p:nvSpPr>
        <p:spPr>
          <a:xfrm>
            <a:off x="457200" y="1097280"/>
            <a:ext cx="3931920" cy="3474720"/>
          </a:xfrm>
          <a:prstGeom prst="roundRect">
            <a:avLst/>
          </a:prstGeom>
          <a:solidFill>
            <a:srgbClr val="1A1E2B"/>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749039" cy="457200"/>
          </a:xfrm>
          <a:prstGeom prst="rect">
            <a:avLst/>
          </a:prstGeom>
          <a:noFill/>
        </p:spPr>
        <p:txBody>
          <a:bodyPr wrap="none">
            <a:spAutoFit/>
          </a:bodyPr>
          <a:lstStyle/>
          <a:p>
            <a:pPr>
              <a:defRPr sz="2000" b="1">
                <a:solidFill>
                  <a:srgbClr val="818CF8"/>
                </a:solidFill>
              </a:defRPr>
            </a:pPr>
            <a:r>
              <a:t>Current method</a:t>
            </a:r>
          </a:p>
          <a:p>
            <a:pPr>
              <a:defRPr sz="1600" b="1">
                <a:solidFill>
                  <a:srgbClr val="FFFFFF"/>
                </a:solidFill>
              </a:defRPr>
            </a:pPr>
            <a:r>
              <a:t>Split by Newlines/Paragraphs</a:t>
            </a:r>
          </a:p>
        </p:txBody>
      </p:sp>
      <p:sp>
        <p:nvSpPr>
          <p:cNvPr id="6" name="TextBox 5"/>
          <p:cNvSpPr txBox="1"/>
          <p:nvPr/>
        </p:nvSpPr>
        <p:spPr>
          <a:xfrm>
            <a:off x="548640" y="1828800"/>
            <a:ext cx="3749039" cy="2560320"/>
          </a:xfrm>
          <a:prstGeom prst="rect">
            <a:avLst/>
          </a:prstGeom>
          <a:noFill/>
        </p:spPr>
        <p:txBody>
          <a:bodyPr wrap="square">
            <a:spAutoFit/>
          </a:bodyPr>
          <a:lstStyle/>
          <a:p>
            <a:pPr>
              <a:defRPr sz="1400">
                <a:solidFill>
                  <a:srgbClr val="C8C8C8"/>
                </a:solidFill>
                <a:latin typeface="Courier New"/>
              </a:defRPr>
            </a:pPr>
            <a:r>
              <a:t>Code:</a:t>
            </a:r>
            <a:br/>
            <a:r>
              <a:t>chunks = text.split("\n")</a:t>
            </a:r>
          </a:p>
          <a:p>
            <a:br/>
            <a:pPr>
              <a:defRPr sz="1600" b="1">
                <a:solidFill>
                  <a:srgbClr val="34D399"/>
                </a:solidFill>
              </a:defRPr>
            </a:pPr>
            <a:r>
              <a:t>✓ Pros:</a:t>
            </a:r>
          </a:p>
          <a:p>
            <a:pPr>
              <a:defRPr sz="1400">
                <a:solidFill>
                  <a:srgbClr val="DCDCDC"/>
                </a:solidFill>
              </a:defRPr>
            </a:pPr>
            <a:r>
              <a:t>  • Simple &amp; fast</a:t>
            </a:r>
            <a:br/>
            <a:r>
              <a:t>  • Preserves context</a:t>
            </a:r>
            <a:br/>
            <a:r>
              <a:t>  • No overlap needed</a:t>
            </a:r>
          </a:p>
          <a:p>
            <a:br/>
            <a:pPr>
              <a:defRPr sz="1600" b="1">
                <a:solidFill>
                  <a:srgbClr val="FD79A8"/>
                </a:solidFill>
              </a:defRPr>
            </a:pPr>
            <a:r>
              <a:t>✗ Cons:</a:t>
            </a:r>
          </a:p>
          <a:p>
            <a:pPr>
              <a:defRPr sz="1400">
                <a:solidFill>
                  <a:srgbClr val="DCDCDC"/>
                </a:solidFill>
              </a:defRPr>
            </a:pPr>
            <a:r>
              <a:t>  • Unequal chunk sizes</a:t>
            </a:r>
            <a:br/>
            <a:r>
              <a:t>  • May lose meaning if short</a:t>
            </a:r>
            <a:br/>
            <a:r>
              <a:t>  • Paragraph-dependent</a:t>
            </a:r>
          </a:p>
        </p:txBody>
      </p:sp>
      <p:sp>
        <p:nvSpPr>
          <p:cNvPr id="7" name="TextBox 6"/>
          <p:cNvSpPr txBox="1"/>
          <p:nvPr/>
        </p:nvSpPr>
        <p:spPr>
          <a:xfrm>
            <a:off x="4572000" y="1188720"/>
            <a:ext cx="4114800" cy="457200"/>
          </a:xfrm>
          <a:prstGeom prst="rect">
            <a:avLst/>
          </a:prstGeom>
          <a:noFill/>
        </p:spPr>
        <p:txBody>
          <a:bodyPr wrap="none">
            <a:spAutoFit/>
          </a:bodyPr>
          <a:lstStyle/>
          <a:p>
            <a:pPr>
              <a:defRPr sz="2000" b="1">
                <a:solidFill>
                  <a:srgbClr val="FDCB6E"/>
                </a:solidFill>
              </a:defRPr>
            </a:pPr>
            <a:r>
              <a:t>Alternative methods</a:t>
            </a:r>
          </a:p>
        </p:txBody>
      </p:sp>
      <p:sp>
        <p:nvSpPr>
          <p:cNvPr id="8" name="Rounded Rectangle 7"/>
          <p:cNvSpPr/>
          <p:nvPr/>
        </p:nvSpPr>
        <p:spPr>
          <a:xfrm>
            <a:off x="4572000" y="1645920"/>
            <a:ext cx="4114800" cy="2926080"/>
          </a:xfrm>
          <a:prstGeom prst="roundRect">
            <a:avLst/>
          </a:prstGeom>
          <a:solidFill>
            <a:srgbClr val="1A1E2B"/>
          </a:solidFill>
          <a:ln>
            <a:solidFill>
              <a:srgbClr val="FDC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737360"/>
            <a:ext cx="3931920" cy="2743200"/>
          </a:xfrm>
          <a:prstGeom prst="rect">
            <a:avLst/>
          </a:prstGeom>
          <a:noFill/>
        </p:spPr>
        <p:txBody>
          <a:bodyPr wrap="square">
            <a:spAutoFit/>
          </a:bodyPr>
          <a:lstStyle/>
          <a:p>
            <a:pPr>
              <a:defRPr b="1" sz="1400">
                <a:solidFill>
                  <a:srgbClr val="FFFFFF"/>
                </a:solidFill>
              </a:defRPr>
            </a:pPr>
            <a:r>
              <a:t>1️⃣ Fixed Size</a:t>
            </a:r>
          </a:p>
          <a:p>
            <a:pPr>
              <a:defRPr sz="1200">
                <a:solidFill>
                  <a:srgbClr val="C8C8C8"/>
                </a:solidFill>
              </a:defRPr>
            </a:pPr>
            <a:r>
              <a:t>  • Split by word count (e.g., 256 words)</a:t>
            </a:r>
            <a:br/>
            <a:r>
              <a:t>  • Consistent but may cut mid-sentence</a:t>
            </a:r>
          </a:p>
          <a:p>
            <a:pPr>
              <a:defRPr sz="400"/>
            </a:pPr>
          </a:p>
          <a:p>
            <a:pPr>
              <a:defRPr b="1" sz="1400">
                <a:solidFill>
                  <a:srgbClr val="FFFFFF"/>
                </a:solidFill>
              </a:defRPr>
            </a:pPr>
            <a:r>
              <a:t>2️⃣ Semantic Chunking</a:t>
            </a:r>
          </a:p>
          <a:p>
            <a:pPr>
              <a:defRPr sz="1200">
                <a:solidFill>
                  <a:srgbClr val="C8C8C8"/>
                </a:solidFill>
              </a:defRPr>
            </a:pPr>
            <a:r>
              <a:t>  • Break at natural topic boundaries</a:t>
            </a:r>
            <a:br/>
            <a:r>
              <a:t>  • Requires NLP (spacy, nltk)</a:t>
            </a:r>
          </a:p>
          <a:p>
            <a:pPr>
              <a:defRPr sz="400"/>
            </a:pPr>
          </a:p>
          <a:p>
            <a:pPr>
              <a:defRPr b="1" sz="1400">
                <a:solidFill>
                  <a:srgbClr val="FFFFFF"/>
                </a:solidFill>
              </a:defRPr>
            </a:pPr>
            <a:r>
              <a:t>3️⃣ Recursive Chunking</a:t>
            </a:r>
          </a:p>
          <a:p>
            <a:pPr>
              <a:defRPr sz="1200">
                <a:solidFill>
                  <a:srgbClr val="C8C8C8"/>
                </a:solidFill>
              </a:defRPr>
            </a:pPr>
            <a:r>
              <a:t>  • Preserve structure (headers, lists)</a:t>
            </a:r>
            <a:br/>
            <a:r>
              <a:t>  • Use langchain, tree-sitter</a:t>
            </a:r>
          </a:p>
          <a:p>
            <a:pPr>
              <a:defRPr sz="400"/>
            </a:pPr>
          </a:p>
          <a:p>
            <a:pPr>
              <a:defRPr b="1" sz="1400">
                <a:solidFill>
                  <a:srgbClr val="FFFFFF"/>
                </a:solidFill>
              </a:defRPr>
            </a:pPr>
            <a:r>
              <a:t>4️⃣ Sliding Window</a:t>
            </a:r>
          </a:p>
          <a:p>
            <a:pPr>
              <a:defRPr sz="1200">
                <a:solidFill>
                  <a:srgbClr val="C8C8C8"/>
                </a:solidFill>
              </a:defRPr>
            </a:pPr>
            <a:r>
              <a:t>  • Overlapping chunks (e.g., 256 + 50 overlap)</a:t>
            </a:r>
            <a:br/>
            <a:r>
              <a:t>  • Better context preservation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39</TotalTime>
  <Words>3797</Words>
  <Application>Microsoft Macintosh PowerPoint</Application>
  <PresentationFormat>Custom</PresentationFormat>
  <Paragraphs>385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Bhargav, Tsapparapu</cp:lastModifiedBy>
  <cp:revision>2</cp:revision>
  <dcterms:created xsi:type="dcterms:W3CDTF">2013-01-27T09:14:16Z</dcterms:created>
  <dcterms:modified xsi:type="dcterms:W3CDTF">2026-04-02T07:15:05Z</dcterms:modified>
  <cp:category/>
</cp:coreProperties>
</file>